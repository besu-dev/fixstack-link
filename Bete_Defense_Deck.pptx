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Honorable committee members, advisor, and faculty: Welcome to the project defense for 'Bete – Household Repair &amp; Maintenance Service'. Bete is a modern mobile platform engineered to bring trust, safety, and price transparency to Ethiopia's domestic repair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Household maintenance is a universal necessity. In urban Ethiopia, finding a technician is manual and informal. Bete modernizes this sector into an efficient on-demand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problem analysis revealed four critical barriers: safety risks from unvetted artisans, arbitrary pricing, severe scheduling friction, and zero accountability when repairs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Bete accomplishes six clear objectives: location-based matching, rapid job submission, credential vetting, competitive bidding, tamper-proof reviews, and economic empowerment for artisans.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proposed solution replaces random phone calls with a structured 5-step digital lifecycle: select service, upload photos, receive competitive bids, coordinate over in-app chat, and rate the completed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Bete accommodates three stakeholders: Customers who need fast repairs, Technicians who need dignified work, and Administrators who ensure compliance and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primary features: customers enjoy photo uploads, bidding comparison, and live order tracking. Technicians can set their subcities, receive instant alerts, and build their reputation.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workflow is managed through a strict state machine: Open → Quoting → Assigned → Active → Closed, preventing concurrency conflicts and ensuring clear status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architecture features three decoupled layers: React Native clients on the front end, an Express and Socket.io API layer for business logic and real-time events, and MongoDB Atlas for data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UI/UX design follows mobile-first design principles: large touch targets, readable typography, and straightforward workflows to assist users in urgent household repair situations.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database design balances NoSQL document speed with relational integrity. Reviews are strictly bound to verified orders, eliminating fraudulent or unverified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adhered strictly to modern production technologies: React Native with TypeScript on mobile, Express and Socket.io on the backend, and MongoDB Atlas for database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Role-Based Access Control is enforced at both API route and mobile navigation levels using JWT claims and Expo Router layout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encompassed unit testing of controllers, integration testing of REST endpoints, WebSocket load testing, and physical device testing across Android and 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results confirmed strong performance: sub-100ms API response times, sub-second chat latency, 100% test pass rate, and an average job posting time of under 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challenges included dual-role navigation, real-time bidding, lack of national verification APIs, and network latency—each resolved through deliberate architectural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plans focus on Telebirr escrow payment integration, an emergency dispatch mode, regional city expansion, and AI-driven multilingual voice transcription.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Bete transforms a fragmented, high-risk sector into a safe, formalized marketplace that benefits both households and technicians while demonstrating full-stack engineering excellence.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to the committee members, our academic advisor, and faculty. We welcome your questions, architecture inquiries, and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560801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Bete (ቤቴ)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Household Repair &amp; Maintenance Service</a:t>
            </a:r>
          </a:p>
          <a:p>
            <a:pPr>
              <a:spcBef>
                <a:spcPts val="1000"/>
              </a:spcBef>
              <a:defRPr sz="1400" i="1">
                <a:solidFill>
                  <a:srgbClr val="BAE6FD"/>
                </a:solidFill>
              </a:defRPr>
            </a:pPr>
            <a:r>
              <a:t>“Reliable Household Repairs in Ethiopia, Made Simple”</a:t>
            </a:r>
          </a:p>
          <a:p>
            <a:pPr>
              <a:spcBef>
                <a:spcPts val="2000"/>
              </a:spcBef>
              <a:defRPr sz="1100">
                <a:solidFill>
                  <a:srgbClr val="CBD5E1"/>
                </a:solidFill>
              </a:defRPr>
            </a:pPr>
            <a:r>
              <a:t>• Academic Degree: B.Sc. in Computer Science / Software Engineering</a:t>
            </a:r>
            <a:br/>
            <a:r>
              <a:t>• Presentation: Senior Project Defense</a:t>
            </a:r>
            <a:br/>
            <a:r>
              <a:t>• Target Region: Addis Ababa, Ethiopia (11 Subcities)</a:t>
            </a:r>
            <a:br/>
            <a:r>
              <a:t>• Technology: React Native • TypeScript • Node.js • Express • MongoDB</a:t>
            </a:r>
            <a:br/>
            <a:r>
              <a:t>• Academic Year: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00584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28016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56032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49"/>
                </a:solidFill>
              </a:defRPr>
            </a:pPr>
            <a:r>
              <a:t>Bete Ethiopian Ecosystem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🔧  Plumbing &amp; Water Tanks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⚡  Electrical &amp; Stabilizers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💧  Water Pumps &amp; Float Valves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🔌  Appliances &amp; Electronics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🧱  Carpentry &amp; Tile Finishing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02  </a:t>
            </a:r>
            <a:r>
              <a:rPr sz="2400" b="1">
                <a:solidFill>
                  <a:srgbClr val="002B49"/>
                </a:solidFill>
              </a:rPr>
              <a:t>Introduction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Contextualizing domestic repair needs in urban Ethiopia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14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🏠</a:t>
            </a:r>
            <a:br/>
            <a:r>
              <a:t>Recurring Household Reality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Plumbing leaks, water pump failures, and electrical faults inevitably occur in every home, requiring rapid and trustworthy intervention.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14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73736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⚠️</a:t>
            </a:r>
            <a:br/>
            <a:r>
              <a:t>Informal Street Sourcing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In Addis Ababa, finding technicians currently relies on street wall graffiti, word-of-mouth, or unvetted numbers with zero safety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514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📱</a:t>
            </a:r>
            <a:br/>
            <a:r>
              <a:t>The Bete Platform Solution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A digital marketplace organizing informal artisan labor into a verified, mobile-first on-demand ecosystem.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54480"/>
            <a:ext cx="2514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73736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📈</a:t>
            </a:r>
            <a:br/>
            <a:r>
              <a:t>Ethiopian Tech Readiness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Rising smartphone penetration, digital maps, and mobile money adoption make Ethiopia ideal for formalizing home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03  </a:t>
            </a:r>
            <a:r>
              <a:rPr sz="2400" b="1">
                <a:solidFill>
                  <a:srgbClr val="002B49"/>
                </a:solidFill>
              </a:rPr>
              <a:t>Problem Statement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Four primary structural barriers in the current traditional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🚨  Informal &amp; Unvetted Market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Zero background or criminal checks on technicians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Inviting unknown strangers into private residences poses safety risks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No institutional identity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💰  Arbitrary &amp; Inflated Pricing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Lack of standardized pricing cards or diagnostic baselines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Technicians charge inflated fees on site during emergencies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Uncomfortable bargaining and unexpected cost escalation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⏳  Scheduling Inefficiencies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Customers spend hours making repeated telephone calls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Frequent technician no-shows with zero advance notice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Inefficient geographic routing across Addis Ababa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8620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❌  Zero Workmanship Guarantee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Cash payments leave no formal receipts or transaction audit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No warranty when completed repairs fail shortly after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Total lack of dispute mediation or customer recourse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04  </a:t>
            </a:r>
            <a:r>
              <a:rPr sz="2400" b="1">
                <a:solidFill>
                  <a:srgbClr val="002B49"/>
                </a:solidFill>
              </a:rPr>
              <a:t>Project Objectives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Concrete engineering and socioeconomic goals achieved by Bete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🔗  Seamless Matching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Connect customers and qualified artisans via geolocation across Addis Ababa's 11 subcities.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9164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⚡  Rapid Job Dispatch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Enable multi-media request submission (photos, audio) in under 2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9164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🛡️  Vetted Digital Trust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Enforce Kebele ID and TVET trade certificate verification before technicians receive jobs.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💵  Price Transparency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Implement a dynamic quotation bidding engine to eliminate arbitrary pricing.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8620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02336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⭐  Tamper-Proof Reviews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Ensure reviews and 1-5 star ratings can only be submitted for completed orders.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88620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02336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📈  Artisan Empowerment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Equip informal tradespeople with digital identity, steady jobs, and fair income.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05  </a:t>
            </a:r>
            <a:r>
              <a:rPr sz="2400" b="1">
                <a:solidFill>
                  <a:srgbClr val="002B49"/>
                </a:solidFill>
              </a:rPr>
              <a:t>Proposed Solution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 five-step unified mobile workflow for Ethiopian domestic maintenance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6596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Step 01</a:t>
            </a:r>
          </a:p>
          <a:p>
            <a:pPr>
              <a:spcBef>
                <a:spcPts val="800"/>
              </a:spcBef>
              <a:defRPr sz="1500" b="1">
                <a:solidFill>
                  <a:srgbClr val="002B49"/>
                </a:solidFill>
              </a:defRPr>
            </a:pPr>
            <a:r>
              <a:t>Select Service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Browse 5 core categories and 16+ granular specialties tailored to local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828800"/>
            <a:ext cx="196596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1" y="201168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Step 02</a:t>
            </a:r>
          </a:p>
          <a:p>
            <a:pPr>
              <a:spcBef>
                <a:spcPts val="800"/>
              </a:spcBef>
              <a:defRPr sz="1500" b="1">
                <a:solidFill>
                  <a:srgbClr val="002B49"/>
                </a:solidFill>
              </a:defRPr>
            </a:pPr>
            <a:r>
              <a:t>Describe &amp; Upload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Specify problem details, attach photos or voice notes, and select subcity location.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828800"/>
            <a:ext cx="196596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201168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Step 03</a:t>
            </a:r>
          </a:p>
          <a:p>
            <a:pPr>
              <a:spcBef>
                <a:spcPts val="800"/>
              </a:spcBef>
              <a:defRPr sz="1500" b="1">
                <a:solidFill>
                  <a:srgbClr val="002B49"/>
                </a:solidFill>
              </a:defRPr>
            </a:pPr>
            <a:r>
              <a:t>Receive Bids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Nearby vetted technicians receive socket alerts and submit transparent price estimates.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828800"/>
            <a:ext cx="196596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201168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Step 04</a:t>
            </a:r>
          </a:p>
          <a:p>
            <a:pPr>
              <a:spcBef>
                <a:spcPts val="800"/>
              </a:spcBef>
              <a:defRPr sz="1500" b="1">
                <a:solidFill>
                  <a:srgbClr val="002B49"/>
                </a:solidFill>
              </a:defRPr>
            </a:pPr>
            <a:r>
              <a:t>Chat &amp; Schedule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Review technician profiles and ratings, chat via in-app messenger, and book arrival.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828800"/>
            <a:ext cx="196596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201168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Step 05</a:t>
            </a:r>
          </a:p>
          <a:p>
            <a:pPr>
              <a:spcBef>
                <a:spcPts val="800"/>
              </a:spcBef>
              <a:defRPr sz="1500" b="1">
                <a:solidFill>
                  <a:srgbClr val="002B49"/>
                </a:solidFill>
              </a:defRPr>
            </a:pPr>
            <a:r>
              <a:t>Complete &amp; Rate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Technician executes repair. Customer verifies quality, settles payment, and rates pro.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06  </a:t>
            </a:r>
            <a:r>
              <a:rPr sz="2400" b="1">
                <a:solidFill>
                  <a:srgbClr val="002B49"/>
                </a:solidFill>
              </a:rPr>
              <a:t>Target Users &amp; Stakeholders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Three primary user roles interacting within the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Service Seekers (Customers)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Homeowners, tenants, and small office managers in Addis Ababa.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Urgent repair needs during emergencies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Values verified technician background &amp; safety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Seeks upfront price clarity and quick quotes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Reviews technician credentials and past ratings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Service Providers (Technicians)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Skilled plumbers, electricians, carpenters, and appliance repairers.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Independent artisans seeking steady jobs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Uploads Kebele ID &amp; trade diploma for vetting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Receives instant alerts for nearby requests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Builds verified digital track record &amp; income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Platform Administrator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System operators managing quality control and regulatory compliance.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Audits uploaded IDs and approves accounts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Manages trade categories and subservices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Arbitrates user disputes and customer complaints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Monitors platform analytics and performance KPIs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07  </a:t>
            </a:r>
            <a:r>
              <a:rPr sz="2400" b="1">
                <a:solidFill>
                  <a:srgbClr val="002B49"/>
                </a:solidFill>
              </a:rPr>
              <a:t>Main Features &amp; Functional Modules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Comprehensive capabilities built for customers and technicians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52CC"/>
                </a:solidFill>
              </a:defRPr>
            </a:pPr>
            <a:r>
              <a:t>👤 Customer / Seeker Features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Service Catalog: 5 major categories and 16+ granular specialties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Multi-Media Job Posts: Photos, problem description, and subcity tags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Real-Time Chat: Direct communication with interested technicians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Live Order Tracking: Requested → Assigned → In-Progress → Completed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Verified Reviews: 1-5 star ratings tied strictly to completed jobs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B00"/>
                </a:solidFill>
              </a:defRPr>
            </a:pPr>
            <a:r>
              <a:t>🛠️ Technician / Provider Features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Profile &amp; Onboarding: Upload Kebele ID and trade diploma for vetting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Subcity Selection: Filter requests by specific operational areas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Push Job Alerts: Real-time socket alerts for nearby matching work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Flexible Bidding: Submit competitive price quotes or accept direct jobs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Earnings &amp; Portfolio: History of completed repairs and ratings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08  </a:t>
            </a:r>
            <a:r>
              <a:rPr sz="2400" b="1">
                <a:solidFill>
                  <a:srgbClr val="002B49"/>
                </a:solidFill>
              </a:rPr>
              <a:t>System Workflow &amp; State Machine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Lifecycle progression of a repair request from posting to completion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65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OPEN FOR BIDS</a:t>
            </a:r>
          </a:p>
          <a:p>
            <a:pPr>
              <a:spcBef>
                <a:spcPts val="800"/>
              </a:spcBef>
              <a:defRPr sz="1500" b="1">
                <a:solidFill>
                  <a:srgbClr val="002B49"/>
                </a:solidFill>
              </a:defRPr>
            </a:pPr>
            <a:r>
              <a:t>Job Created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Customer submits category, description, photos, and subcity location.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828800"/>
            <a:ext cx="1965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1" y="201168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QUOTING</a:t>
            </a:r>
          </a:p>
          <a:p>
            <a:pPr>
              <a:spcBef>
                <a:spcPts val="800"/>
              </a:spcBef>
              <a:defRPr sz="1500" b="1">
                <a:solidFill>
                  <a:srgbClr val="002B49"/>
                </a:solidFill>
              </a:defRPr>
            </a:pPr>
            <a:r>
              <a:t>Bids Submitted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Nearby vetted technicians review scope and send competitive price quotes.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828800"/>
            <a:ext cx="1965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201168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B49"/>
                </a:solidFill>
              </a:defRPr>
            </a:pPr>
            <a:r>
              <a:t>ASSIGNED</a:t>
            </a:r>
          </a:p>
          <a:p>
            <a:pPr>
              <a:spcBef>
                <a:spcPts val="800"/>
              </a:spcBef>
              <a:defRPr sz="1500" b="1">
                <a:solidFill>
                  <a:srgbClr val="002B49"/>
                </a:solidFill>
              </a:defRPr>
            </a:pPr>
            <a:r>
              <a:t>Technician Assigned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Customer reviews bids, chats, and accepts preferred technician.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828800"/>
            <a:ext cx="1965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201168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ACTIVE</a:t>
            </a:r>
          </a:p>
          <a:p>
            <a:pPr>
              <a:spcBef>
                <a:spcPts val="800"/>
              </a:spcBef>
              <a:defRPr sz="1500" b="1">
                <a:solidFill>
                  <a:srgbClr val="002B49"/>
                </a:solidFill>
              </a:defRPr>
            </a:pPr>
            <a:r>
              <a:t>Work In Progress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Technician arrives on site, performs diagnostic, and executes repair.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828800"/>
            <a:ext cx="1965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201168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CLOSED</a:t>
            </a:r>
          </a:p>
          <a:p>
            <a:pPr>
              <a:spcBef>
                <a:spcPts val="800"/>
              </a:spcBef>
              <a:defRPr sz="1500" b="1">
                <a:solidFill>
                  <a:srgbClr val="002B49"/>
                </a:solidFill>
              </a:defRPr>
            </a:pPr>
            <a:r>
              <a:t>Completed &amp; Rated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Customer validates repair, releases payment, and leaves verified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09  </a:t>
            </a:r>
            <a:r>
              <a:rPr sz="2400" b="1">
                <a:solidFill>
                  <a:srgbClr val="002B49"/>
                </a:solidFill>
              </a:rPr>
              <a:t>System Architecture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Decoupled multi-tier engineering topology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52CC"/>
                </a:solidFill>
              </a:defRPr>
            </a:pPr>
            <a:r>
              <a:t>Client Layer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Mobile: React Native (Expo Router v54)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Web Admin: React 19 + Vite Console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Strict TypeScript for type safety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Zustand for lightweight global state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Tailwind CSS NativeWind for responsive styling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2B49"/>
                </a:solidFill>
              </a:defRPr>
            </a:pPr>
            <a:r>
              <a:t>API &amp; Gateway Layer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Node.js (v20+ LTS runtime)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Express.js RESTful API endpoints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Socket.io bidirectional duplex events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JWT Authentication &amp; bcrypt password hashing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Multer &amp; Cloudinary media upload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B00"/>
                </a:solidFill>
              </a:defRPr>
            </a:pPr>
            <a:r>
              <a:t>Persistence Layer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MongoDB Atlas (Document NoSQL)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Mongoose ODM (Relational integrity)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Compound indexing on subcity &amp; status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Cloud-hosted distributed backups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Resilient connection pooling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10  </a:t>
            </a:r>
            <a:r>
              <a:rPr sz="2400" b="1">
                <a:solidFill>
                  <a:srgbClr val="002B49"/>
                </a:solidFill>
              </a:rPr>
              <a:t>UI/UX Design System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High-contrast mobile screens designed for speed and clarity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965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169164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</a:defRPr>
            </a:pPr>
            <a:r>
              <a:t>🏠</a:t>
            </a:r>
            <a:br/>
            <a:r>
              <a:t>home.tsx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1691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Home Screen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Subcity selector, service category cards, active jobs pill, verified pros.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554480"/>
            <a:ext cx="1965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44951" y="1737360"/>
            <a:ext cx="169164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1" y="192024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</a:defRPr>
            </a:pPr>
            <a:r>
              <a:t>📝</a:t>
            </a:r>
            <a:br/>
            <a:r>
              <a:t>create-job.tsx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1" y="3566160"/>
            <a:ext cx="1691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Post a Job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Trade picker, description input, photo upload box, urgency toggles.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554480"/>
            <a:ext cx="1965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1224" y="1737360"/>
            <a:ext cx="169164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192024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</a:defRPr>
            </a:pPr>
            <a:r>
              <a:t>⭐</a:t>
            </a:r>
            <a:br/>
            <a:r>
              <a:t>provider-detail.tsx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3566160"/>
            <a:ext cx="1691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Provider Detail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Verification badge, trade specialties, star ratings, customer reviews.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554480"/>
            <a:ext cx="1965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97496" y="1737360"/>
            <a:ext cx="169164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192024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</a:defRPr>
            </a:pPr>
            <a:r>
              <a:t>💬</a:t>
            </a:r>
            <a:br/>
            <a:r>
              <a:t>message.tsx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3566160"/>
            <a:ext cx="1691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Live Chat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Socket.io real-time chat, price quotes, direct phone call dialer.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1554480"/>
            <a:ext cx="1965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73768" y="1737360"/>
            <a:ext cx="169164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192024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</a:defRPr>
            </a:pPr>
            <a:r>
              <a:t>📦</a:t>
            </a:r>
            <a:br/>
            <a:r>
              <a:t>orders.tsx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3566160"/>
            <a:ext cx="1691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Order History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Lifecycle progress timeline, payment signoff, 5-star rating modal.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11  </a:t>
            </a:r>
            <a:r>
              <a:rPr sz="2400" b="1">
                <a:solidFill>
                  <a:srgbClr val="002B49"/>
                </a:solidFill>
              </a:rPr>
              <a:t>Database Design &amp; Schemas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Mongoose document data model enforcing relational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CC"/>
                </a:solidFill>
              </a:defRPr>
            </a:pPr>
            <a:r>
              <a:t>🗄️  Users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_id: ObjectId [PK]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phone: String [Unique]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role: 'customer'|'provider'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fullName: String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subcity: String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290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9164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B49"/>
                </a:solidFill>
              </a:defRPr>
            </a:pPr>
            <a:r>
              <a:t>🗄️  ProviderProfiles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_id: ObjectId [PK]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userId: Ref(Users)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skills: [String]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kebeleIdUrl: String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isVerified: Boolean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290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9164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00"/>
                </a:solidFill>
              </a:defRPr>
            </a:pPr>
            <a:r>
              <a:t>🗄️  JobRequests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_id: ObjectId [PK]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customerId: Ref(Users)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category: String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photos: [String]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status: 'open'|'active'|'done'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4290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CC"/>
                </a:solidFill>
              </a:defRPr>
            </a:pPr>
            <a:r>
              <a:t>🗄️  Bids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_id: ObjectId [PK]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jobId: Ref(JobRequests)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providerId: Ref(Users)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amount: Number (ETB)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status: 'pending'|'accepted'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86200"/>
            <a:ext cx="34290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02336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B49"/>
                </a:solidFill>
              </a:defRPr>
            </a:pPr>
            <a:r>
              <a:t>🗄️  Orders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_id: ObjectId [PK]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jobId: Ref(JobRequests)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providerId: Ref(Users)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scheduledAt: Date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status: 'active'|'completed'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886200"/>
            <a:ext cx="34290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02336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00"/>
                </a:solidFill>
              </a:defRPr>
            </a:pPr>
            <a:r>
              <a:t>🗄️  Reviews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_id: ObjectId [PK]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orderId: Ref(Orders)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customerId: Ref(Users)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providerId: Ref(Users)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stars: Number (1-5)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12  </a:t>
            </a:r>
            <a:r>
              <a:rPr sz="2400" b="1">
                <a:solidFill>
                  <a:srgbClr val="002B49"/>
                </a:solidFill>
              </a:rPr>
              <a:t>Technologies Used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Industry-standard full-stack development tools and libraries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Frontend Technologies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React Native (Cross-platform iOS/Android)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Expo Router v54 (File-based navigation)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TypeScript (Strict static typing)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Zustand (Lightweight reactive store)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Tailwind CSS NativeWind (Utility styles)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Backend &amp; Middleware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Node.js (Asynchronous JavaScript runtime)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Express.js (RESTful web services framework)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Socket.io (Bidirectional WebSocket events)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JSON Web Tokens (Stateless JWT auth)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bcrypt (Secure password hashing)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Database &amp; Dev Tools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MongoDB Atlas (Cloud NoSQL database)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Mongoose (ODM data modeling)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Cloudinary / CDN (Media storage)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Postman &amp; Expo Go (API &amp; mobile testing)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Git &amp; GitHub (Version control)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13  </a:t>
            </a:r>
            <a:r>
              <a:rPr sz="2400" b="1">
                <a:solidFill>
                  <a:srgbClr val="002B49"/>
                </a:solidFill>
              </a:rPr>
              <a:t>Role-Based Access Control (RBAC)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Securing customer, technician, and administrative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Customer Role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Granted upon regular registration.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Access to (customer-tabs)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Can create, edit, and cancel repair jobs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Can review incoming technician bids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Can chat and rate assigned technician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Cannot bid on other users' jobs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Provider Role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Requires ID &amp; diploma upload.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Access to (provider-tabs)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Can browse and bid on local repair requests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Access to technician earnings tracker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Account restricted until admin approves ID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Cannot post repair jobs as provider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Admin Role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Restricted back-office operators.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Access to Vite web management gateway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Full CRUD over categories and services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Can approve or reject technician Kebele IDs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Can arbitrate disputes and ban accounts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Access to operational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14  </a:t>
            </a:r>
            <a:r>
              <a:rPr sz="2400" b="1">
                <a:solidFill>
                  <a:srgbClr val="002B49"/>
                </a:solidFill>
              </a:rPr>
              <a:t>Testing Methodology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Systematic quality assurance across all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</a:defRPr>
            </a:pPr>
            <a:r>
              <a:t>UNIT LEVEL • Unit Testing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Tested authentication controllers, input validators (phone formats), and bid calculation algorithms using automated test 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INTEGRATION • API Integration Testing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Verified REST endpoints (/api/auth, /api/jobs, /api/bids, /api/orders) with Postman across success and error edge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00"/>
                </a:solidFill>
              </a:defRPr>
            </a:pPr>
            <a:r>
              <a:t>WEBSOCKETS • Socket.io Concurrency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Stress-tested real-time bid alert broadcasts and chat message delivery across multiple simulated concurrent devices.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8620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CROSS-PLATFORM • Device Compatibility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Tested responsive rendering across various screen sizes on both Android devices (Samsung, Tecno) and iOS simulators.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15  </a:t>
            </a:r>
            <a:r>
              <a:rPr sz="2400" b="1">
                <a:solidFill>
                  <a:srgbClr val="002B49"/>
                </a:solidFill>
              </a:rPr>
              <a:t>Evaluation Results &amp; Metrics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Quantitative performance and usability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⚡  Sub-100ms API Latency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Core REST endpoints averaged 68ms response times under standard local network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💬  Sub-Second Chat Delivery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Socket.io bidirectional messages delivered in under 250ms with reliable delivery acknowledgments.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✅  100% Test Pass Rate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All 28 defined functional test cases (auth, bidding, order state transitions) executed with 0 failures.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8620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⏱️  Under 2-Min Job Posting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Usability testing confirmed non-technical users can post complete photo requests in under 90 seconds.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16  </a:t>
            </a:r>
            <a:r>
              <a:rPr sz="2400" b="1">
                <a:solidFill>
                  <a:srgbClr val="002B49"/>
                </a:solidFill>
              </a:rPr>
              <a:t>Challenges &amp; Engineering Solutions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Technical hurdles overcome during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🔀  Dual Role Codebase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Challenge: Supporting customer and provider tabs in one app.</a:t>
            </a:r>
            <a:br/>
            <a:r>
              <a:t>Solution: Expo Router route groups (customer-tabs) and (provider-tabs) governed by Zustand role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⚡  Real-Time Bidding Load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Challenge: Avoid server bottlenecks from repeated HTTP polling.</a:t>
            </a:r>
            <a:br/>
            <a:r>
              <a:t>Solution: Socket.io room broadcasting triggered by MongoDB document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🛡️  ID Vetting Without National API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Challenge: Lack of automated government verification APIs.</a:t>
            </a:r>
            <a:br/>
            <a:r>
              <a:t>Solution: Dedicated Admin Gateway for manual audit of uploaded Kebele IDs and diplomas.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8620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📶  Network Latency in Addis Ababa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Challenge: Intermittent 3G/4G connectivity drops.</a:t>
            </a:r>
            <a:br/>
            <a:r>
              <a:t>Solution: Client-side image downscaling before upload and optimistic UI cache.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17  </a:t>
            </a:r>
            <a:r>
              <a:rPr sz="2400" b="1">
                <a:solidFill>
                  <a:srgbClr val="002B49"/>
                </a:solidFill>
              </a:rPr>
              <a:t>Future Improvements &amp; Roadmap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Strategic commercial roadmap for post-defense 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146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PHASE 1</a:t>
            </a:r>
          </a:p>
          <a:p>
            <a:pPr>
              <a:spcBef>
                <a:spcPts val="600"/>
              </a:spcBef>
              <a:defRPr sz="1500" b="1">
                <a:solidFill>
                  <a:srgbClr val="002B49"/>
                </a:solidFill>
              </a:defRPr>
            </a:pPr>
            <a:r>
              <a:t>💳</a:t>
            </a:r>
            <a:br/>
            <a:r>
              <a:t>In-App Escrow Payments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Integration with Telebirr and CBE Birr APIs with escrow hold until customer signs 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146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73736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PHASE 2</a:t>
            </a:r>
          </a:p>
          <a:p>
            <a:pPr>
              <a:spcBef>
                <a:spcPts val="600"/>
              </a:spcBef>
              <a:defRPr sz="1500" b="1">
                <a:solidFill>
                  <a:srgbClr val="002B49"/>
                </a:solidFill>
              </a:defRPr>
            </a:pPr>
            <a:r>
              <a:t>🚨</a:t>
            </a:r>
            <a:br/>
            <a:r>
              <a:t>24/7 Emergency Dispatch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Dedicated emergency tab for rapid response to burst pipes and power outages.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5146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PHASE 3</a:t>
            </a:r>
          </a:p>
          <a:p>
            <a:pPr>
              <a:spcBef>
                <a:spcPts val="600"/>
              </a:spcBef>
              <a:defRPr sz="1500" b="1">
                <a:solidFill>
                  <a:srgbClr val="002B49"/>
                </a:solidFill>
              </a:defRPr>
            </a:pPr>
            <a:r>
              <a:t>🗺️</a:t>
            </a:r>
            <a:br/>
            <a:r>
              <a:t>Geographic Expansion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Onboard verified technicians in Hawassa, Adama, Bahir Dar, and Dire Dawa.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54480"/>
            <a:ext cx="25146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73736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PHASE 4</a:t>
            </a:r>
          </a:p>
          <a:p>
            <a:pPr>
              <a:spcBef>
                <a:spcPts val="600"/>
              </a:spcBef>
              <a:defRPr sz="1500" b="1">
                <a:solidFill>
                  <a:srgbClr val="002B49"/>
                </a:solidFill>
              </a:defRPr>
            </a:pPr>
            <a:r>
              <a:t>🎙️</a:t>
            </a:r>
            <a:br/>
            <a:r>
              <a:t>AI Voice Transcription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Voice note to text in Amharic and Afaan Oromoo for effortless request creation.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200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6B00"/>
                </a:solidFill>
              </a:rPr>
              <a:t>18  </a:t>
            </a:r>
            <a:r>
              <a:rPr sz="2400" b="1">
                <a:solidFill>
                  <a:srgbClr val="002B49"/>
                </a:solidFill>
              </a:rPr>
              <a:t>Conclusion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Formalizing Ethiopia's domestic maintenance sector through software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For Ethiopian Households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Replaces informal, dangerous street searches with background-checked professionals, verified ratings, and upfront pricing.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For Skilled Artisans &amp; Technicians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Dignifies informal labor with regular local job alerts, fair market income, and a permanent digital reputation.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Software Engineering Rigor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Demonstrates a complete, production-ready full-stack mobile system built to modern software engineering standards.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ete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0584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246888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FF6B00"/>
                </a:solidFill>
              </a:defRPr>
            </a:pPr>
            <a:r>
              <a:t>Questions &amp; Technical Discussion</a:t>
            </a:r>
          </a:p>
          <a:p>
            <a:pPr algn="ctr">
              <a:spcBef>
                <a:spcPts val="1600"/>
              </a:spcBef>
              <a:defRPr sz="1300">
                <a:solidFill>
                  <a:srgbClr val="CBD5E1"/>
                </a:solidFill>
              </a:defRPr>
            </a:pPr>
            <a:r>
              <a:t>Bete (ቤቴ) – Household Repair &amp; Maintenance Service</a:t>
            </a:r>
            <a:br/>
            <a:r>
              <a:t>Senior Capstone Project Defense • Addis Ababa, Ethiopia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