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300" y="-5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079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Honorable members of the examination committee, academic advisor, and faculty: Welcome to my senior project defense for 'Bete – Household Repair &amp; Maintenance Service'. Bete is a comprehensive mobile platform developed with React Native and Node.js to formalize, streamline, and secure domestic repairs across Ethiopian urban households.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introduce Bete: It is an on-demand mobile ecosystem engineered specifically for Ethiopia. 'Bete' means 'My Home'. Today in urban centers like Addis Ababa, whenever a pipe bursts or an electrical short occurs, residents struggle to find trusted help. Bete bridges this gap through verified digital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problem statement identifies four core bottlenecks: First, the acute difficulty in finding trusted, verified technicians. Second, delays that lead to property damage. Third, the total absence of convenient digital booking. And fourth, the struggle of honest technicians to secure steady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general objective is building a secure, reliable marketplace for home repairs. Our specific objectives span cross-platform mobile development, real-time job broadcasting via WebSockets and push notifications, and rigorous security with verified trust mechanisms.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proposed solution systematically dismantles the traditional market barriers through instant request broadcasting, verified technician credentials, a transparent bidding mechanism, and integrated real-time chat.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Bete defines three primary stakeholders: Service Seekers who request repairs, Service Providers who deliver trade expertise, and System Administrators who oversee verification, quality control, and platform compliance.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eight core features of Bete: service selection, problem description with emergency priority, photo attachment, technician discovery, competitive bidding, verified ratings, profile management, and role-based access control.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workflow operates as a transparent 5-stage lifecycle: customer posts request, technician receives real-time alert, technician bids and customer accepts, repair is executed with chat coordination, and the customer finalizes by rating the artisan.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architecture follows an enterprise 3-tier pattern: The mobile presentation tier built in React Native/Expo, the application logic tier running Node.js and Socket.io, and the persistence tier leveraging MongoDB Atlas with cloud push notification dispatch.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showcases the UI/UX design: Onboarding, Home screen with quick service shortcuts, the Post Request interface, comprehensive Technician Profiles, and the active Chat interface which cleanly hides the bottom navigation bar.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database schema leverages MongoDB for flexible document storage: Users table with role-based attributes, Jobs collection with geolocation subcities, Bids collection connecting technicians with proposals, and Messages for real-time chat persistence.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selected our tech stack for rapid cross-platform capability and real-time responsiveness: React Native and Expo for mobile, Node.js and Express with Socket.io for backend, and MongoDB Atlas for cloud storage.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fundamental to domestic services. We enforce JWT and bcrypt password encryption, strict role-based access separating customers from technicians, and virtual connects to eliminate spam requests.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covered four dimensions: functional verification of all user journeys, UI responsiveness testing across Android screen sizes, API testing of all backend endpoints, and live device testing on physical smartphones.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results demonstrate a 100% functional product: The login flow, job broadcasting with image uploads, and profile management with virtual connects balance have all been successfully validated on real devices.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faced four significant engineering hurdles: push notification delivery, real-time message room orchestration, Android UI responsiveness, and spam prevention. Each was solved using robust architectural patterns.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future roadmap includes Telebirr and Chapa digital payments, real-time GPS technician tracking, voice notes, expanded trade categories, expansion to cities like Hawassa and Bahir Dar, and local language localization.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Bete is more than just a software application—it is a digital bridge that formalizes Ethiopia's informal repair economy, empowers skilled artisans, and gives households peace of mind.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very much for your time, attention, and guidance throughout this project defense. I am now honored to answer any questions or technical inquiries from the committee.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005840"/>
            <a:ext cx="6217920" cy="4937760"/>
          </a:xfrm>
          <a:prstGeom prst="rect">
            <a:avLst/>
          </a:prstGeom>
          <a:noFill/>
        </p:spPr>
        <p:txBody>
          <a:bodyPr wrap="square">
            <a:spAutoFit/>
          </a:bodyPr>
          <a:lstStyle/>
          <a:p>
            <a:br/>
            <a:br/>
            <a:r>
              <a:t>Bete (ቤቴ)</a:t>
            </a:r>
          </a:p>
          <a:p>
            <a:pPr>
              <a:spcBef>
                <a:spcPts val="400"/>
              </a:spcBef>
              <a:defRPr sz="2400" b="1">
                <a:solidFill>
                  <a:srgbClr val="FFFFFF"/>
                </a:solidFill>
              </a:defRPr>
            </a:pPr>
            <a:r>
              <a:t>Household Repair &amp; Maintenance Service</a:t>
            </a:r>
          </a:p>
          <a:p>
            <a:pPr>
              <a:spcBef>
                <a:spcPts val="1200"/>
              </a:spcBef>
              <a:defRPr sz="1500">
                <a:solidFill>
                  <a:srgbClr val="BAE6FD"/>
                </a:solidFill>
              </a:defRPr>
            </a:pPr>
            <a:r>
              <a:t>Senior Project Defense Presentation</a:t>
            </a:r>
          </a:p>
          <a:p>
            <a:pPr>
              <a:spcBef>
                <a:spcPts val="2000"/>
              </a:spcBef>
              <a:defRPr sz="1100">
                <a:solidFill>
                  <a:srgbClr val="CBD5E1"/>
                </a:solidFill>
              </a:defRPr>
            </a:pPr>
            <a:r>
              <a:t>• Presenter / Student: [Student Name(s)]</a:t>
            </a:r>
            <a:br/>
            <a:r>
              <a:t>• Department: Computer Science / Software Engineering</a:t>
            </a:r>
            <a:br/>
            <a:r>
              <a:t>• Institution: [University Name]</a:t>
            </a:r>
            <a:br/>
            <a:r>
              <a:t>• Academic Year: 2026</a:t>
            </a:r>
            <a:br/>
            <a:r>
              <a:t>• Technology: React Native • TypeScript • Node.js • Express • MongoDB</a:t>
            </a:r>
          </a:p>
        </p:txBody>
      </p:sp>
      <p:pic>
        <p:nvPicPr>
          <p:cNvPr id="4" name="Picture 3" descr="bete_logo_horizontal.png"/>
          <p:cNvPicPr>
            <a:picLocks noChangeAspect="1"/>
          </p:cNvPicPr>
          <p:nvPr/>
        </p:nvPicPr>
        <p:blipFill>
          <a:blip r:embed="rId3"/>
          <a:stretch>
            <a:fillRect/>
          </a:stretch>
        </p:blipFill>
        <p:spPr>
          <a:xfrm>
            <a:off x="914400" y="914400"/>
            <a:ext cx="2286000" cy="822960"/>
          </a:xfrm>
          <a:prstGeom prst="rect">
            <a:avLst/>
          </a:prstGeom>
        </p:spPr>
      </p:pic>
      <p:sp>
        <p:nvSpPr>
          <p:cNvPr id="5" name="Rounded Rectangle 4"/>
          <p:cNvSpPr/>
          <p:nvPr/>
        </p:nvSpPr>
        <p:spPr>
          <a:xfrm>
            <a:off x="7589520" y="1005840"/>
            <a:ext cx="3840480" cy="48463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1188720"/>
            <a:ext cx="3474720" cy="4480560"/>
          </a:xfrm>
          <a:prstGeom prst="rect">
            <a:avLst/>
          </a:prstGeom>
          <a:noFill/>
        </p:spPr>
        <p:txBody>
          <a:bodyPr wrap="square">
            <a:spAutoFit/>
          </a:bodyPr>
          <a:lstStyle/>
          <a:p>
            <a:pPr algn="ctr">
              <a:defRPr sz="1600" b="1">
                <a:solidFill>
                  <a:srgbClr val="002B49"/>
                </a:solidFill>
              </a:defRPr>
            </a:pPr>
            <a:r>
              <a:t>Domestic Service Ecosystem</a:t>
            </a:r>
          </a:p>
          <a:p>
            <a:pPr>
              <a:spcBef>
                <a:spcPts val="1000"/>
              </a:spcBef>
              <a:defRPr sz="1200" b="1">
                <a:solidFill>
                  <a:srgbClr val="0052CC"/>
                </a:solidFill>
              </a:defRPr>
            </a:pPr>
            <a:r>
              <a:t>🔧 Plumbing &amp; Water Systems</a:t>
            </a:r>
          </a:p>
          <a:p>
            <a:pPr>
              <a:defRPr sz="1000">
                <a:solidFill>
                  <a:srgbClr val="0F172A"/>
                </a:solidFill>
              </a:defRPr>
            </a:pPr>
            <a:r>
              <a:t>Pipe repairs, water tanks, pump installations</a:t>
            </a:r>
          </a:p>
          <a:p>
            <a:pPr>
              <a:spcBef>
                <a:spcPts val="1000"/>
              </a:spcBef>
              <a:defRPr sz="1200" b="1">
                <a:solidFill>
                  <a:srgbClr val="0052CC"/>
                </a:solidFill>
              </a:defRPr>
            </a:pPr>
            <a:r>
              <a:t>⚡ Electrical &amp; Power</a:t>
            </a:r>
          </a:p>
          <a:p>
            <a:pPr>
              <a:defRPr sz="1000">
                <a:solidFill>
                  <a:srgbClr val="0F172A"/>
                </a:solidFill>
              </a:defRPr>
            </a:pPr>
            <a:r>
              <a:t>Breakers, rewiring, appliance repairs</a:t>
            </a:r>
          </a:p>
          <a:p>
            <a:pPr>
              <a:spcBef>
                <a:spcPts val="1000"/>
              </a:spcBef>
              <a:defRPr sz="1200" b="1">
                <a:solidFill>
                  <a:srgbClr val="0052CC"/>
                </a:solidFill>
              </a:defRPr>
            </a:pPr>
            <a:r>
              <a:t>📱 On-Demand Dispatch</a:t>
            </a:r>
          </a:p>
          <a:p>
            <a:pPr>
              <a:defRPr sz="1000">
                <a:solidFill>
                  <a:srgbClr val="0F172A"/>
                </a:solidFill>
              </a:defRPr>
            </a:pPr>
            <a:r>
              <a:t>Connects customers with verified nearby technicians</a:t>
            </a:r>
          </a:p>
          <a:p>
            <a:pPr>
              <a:spcBef>
                <a:spcPts val="1000"/>
              </a:spcBef>
              <a:defRPr sz="1200" b="1">
                <a:solidFill>
                  <a:srgbClr val="0052CC"/>
                </a:solidFill>
              </a:defRPr>
            </a:pPr>
            <a:r>
              <a:t>💬 Real-time Coordination</a:t>
            </a:r>
          </a:p>
          <a:p>
            <a:pPr>
              <a:defRPr sz="1000">
                <a:solidFill>
                  <a:srgbClr val="0F172A"/>
                </a:solidFill>
              </a:defRPr>
            </a:pPr>
            <a:r>
              <a:t>Direct in-app chat &amp; instant push notifications</a:t>
            </a:r>
          </a:p>
          <a:p>
            <a:pPr>
              <a:spcBef>
                <a:spcPts val="1000"/>
              </a:spcBef>
              <a:defRPr sz="1200" b="1">
                <a:solidFill>
                  <a:srgbClr val="0052CC"/>
                </a:solidFill>
              </a:defRPr>
            </a:pPr>
            <a:r>
              <a:t>🛡️ Verified Artisan Trust</a:t>
            </a:r>
          </a:p>
          <a:p>
            <a:pPr>
              <a:defRPr sz="1000">
                <a:solidFill>
                  <a:srgbClr val="0F172A"/>
                </a:solidFill>
              </a:defRPr>
            </a:pPr>
            <a:r>
              <a:t>Vetted Kebele ID &amp; certified trade qualifications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02 | </a:t>
            </a:r>
            <a:r>
              <a:rPr sz="2200" b="1">
                <a:solidFill>
                  <a:srgbClr val="002B49"/>
                </a:solidFill>
              </a:rPr>
              <a:t>Introduction</a:t>
            </a:r>
          </a:p>
          <a:p>
            <a:pPr>
              <a:defRPr sz="1100">
                <a:solidFill>
                  <a:srgbClr val="64748B"/>
                </a:solidFill>
              </a:defRPr>
            </a:pPr>
            <a:r>
              <a:t>What is Bete and background of the project</a:t>
            </a:r>
          </a:p>
        </p:txBody>
      </p:sp>
      <p:sp>
        <p:nvSpPr>
          <p:cNvPr id="6" name="Rounded Rectangle 5"/>
          <p:cNvSpPr/>
          <p:nvPr/>
        </p:nvSpPr>
        <p:spPr>
          <a:xfrm>
            <a:off x="731520" y="1371600"/>
            <a:ext cx="5257800" cy="48463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45920"/>
            <a:ext cx="4709160" cy="4297680"/>
          </a:xfrm>
          <a:prstGeom prst="rect">
            <a:avLst/>
          </a:prstGeom>
          <a:noFill/>
        </p:spPr>
        <p:txBody>
          <a:bodyPr wrap="square">
            <a:spAutoFit/>
          </a:bodyPr>
          <a:lstStyle/>
          <a:p>
            <a:pPr>
              <a:defRPr sz="1800" b="1">
                <a:solidFill>
                  <a:srgbClr val="002B49"/>
                </a:solidFill>
              </a:defRPr>
            </a:pPr>
            <a:r>
              <a:t>🏠  What is Bete? (ቤቴ)</a:t>
            </a:r>
          </a:p>
          <a:p>
            <a:pPr>
              <a:spcBef>
                <a:spcPts val="1200"/>
              </a:spcBef>
              <a:defRPr sz="1200">
                <a:solidFill>
                  <a:srgbClr val="0F172A"/>
                </a:solidFill>
              </a:defRPr>
            </a:pPr>
            <a:r>
              <a:t>• An on-demand mobile marketplace connecting Ethiopian households with vetted repair technicians.</a:t>
            </a:r>
          </a:p>
          <a:p>
            <a:pPr>
              <a:spcBef>
                <a:spcPts val="1200"/>
              </a:spcBef>
              <a:defRPr sz="1200">
                <a:solidFill>
                  <a:srgbClr val="0F172A"/>
                </a:solidFill>
              </a:defRPr>
            </a:pPr>
            <a:r>
              <a:t>• 'Bete' translates to 'My Home' in Amharic, representing domestic safety, care, and reliable sanctuary.</a:t>
            </a:r>
          </a:p>
          <a:p>
            <a:pPr>
              <a:spcBef>
                <a:spcPts val="1200"/>
              </a:spcBef>
              <a:defRPr sz="1200">
                <a:solidFill>
                  <a:srgbClr val="0F172A"/>
                </a:solidFill>
              </a:defRPr>
            </a:pPr>
            <a:r>
              <a:t>• Serves homeowners, tenants, and verified trade professionals through dedicated, role-based mobile interfaces.</a:t>
            </a:r>
          </a:p>
        </p:txBody>
      </p:sp>
      <p:sp>
        <p:nvSpPr>
          <p:cNvPr id="8" name="Rounded Rectangle 7"/>
          <p:cNvSpPr/>
          <p:nvPr/>
        </p:nvSpPr>
        <p:spPr>
          <a:xfrm>
            <a:off x="6172200" y="1371600"/>
            <a:ext cx="5257800" cy="48463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645920"/>
            <a:ext cx="4709160" cy="4297680"/>
          </a:xfrm>
          <a:prstGeom prst="rect">
            <a:avLst/>
          </a:prstGeom>
          <a:noFill/>
        </p:spPr>
        <p:txBody>
          <a:bodyPr wrap="square">
            <a:spAutoFit/>
          </a:bodyPr>
          <a:lstStyle/>
          <a:p>
            <a:pPr>
              <a:defRPr sz="1800" b="1">
                <a:solidFill>
                  <a:srgbClr val="002B49"/>
                </a:solidFill>
              </a:defRPr>
            </a:pPr>
            <a:r>
              <a:t>🌍  Project Background</a:t>
            </a:r>
          </a:p>
          <a:p>
            <a:pPr>
              <a:spcBef>
                <a:spcPts val="1200"/>
              </a:spcBef>
              <a:defRPr sz="1200">
                <a:solidFill>
                  <a:srgbClr val="0F172A"/>
                </a:solidFill>
              </a:defRPr>
            </a:pPr>
            <a:r>
              <a:t>• Rapid urbanization across Addis Ababa has created intense daily demand for home maintenance.</a:t>
            </a:r>
          </a:p>
          <a:p>
            <a:pPr>
              <a:spcBef>
                <a:spcPts val="1200"/>
              </a:spcBef>
              <a:defRPr sz="1200">
                <a:solidFill>
                  <a:srgbClr val="0F172A"/>
                </a:solidFill>
              </a:defRPr>
            </a:pPr>
            <a:r>
              <a:t>• Traditional sourcing relies heavily on word-of-mouth or street wall advertisements with zero verification.</a:t>
            </a:r>
          </a:p>
          <a:p>
            <a:pPr>
              <a:spcBef>
                <a:spcPts val="1200"/>
              </a:spcBef>
              <a:defRPr sz="1200">
                <a:solidFill>
                  <a:srgbClr val="0F172A"/>
                </a:solidFill>
              </a:defRPr>
            </a:pPr>
            <a:r>
              <a:t>• Technicians operate informally without digital tools to showcase qualifications or manage client bookings.</a:t>
            </a:r>
          </a:p>
          <a:p>
            <a:pPr>
              <a:spcBef>
                <a:spcPts val="1200"/>
              </a:spcBef>
              <a:defRPr sz="1200">
                <a:solidFill>
                  <a:srgbClr val="0F172A"/>
                </a:solidFill>
              </a:defRPr>
            </a:pPr>
            <a:r>
              <a:t>• High mobile phone adoption and mobile money growth in Ethiopia make this the perfect timing for formalization.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03 | </a:t>
            </a:r>
            <a:r>
              <a:rPr sz="2200" b="1">
                <a:solidFill>
                  <a:srgbClr val="002B49"/>
                </a:solidFill>
              </a:rPr>
              <a:t>Problem Statement</a:t>
            </a:r>
          </a:p>
          <a:p>
            <a:pPr>
              <a:defRPr sz="1100">
                <a:solidFill>
                  <a:srgbClr val="64748B"/>
                </a:solidFill>
              </a:defRPr>
            </a:pPr>
            <a:r>
              <a:t>Four primary structural barriers in the current traditional repair market</a:t>
            </a:r>
          </a:p>
        </p:txBody>
      </p:sp>
      <p:sp>
        <p:nvSpPr>
          <p:cNvPr id="6" name="Rounded Rectangle 5"/>
          <p:cNvSpPr/>
          <p:nvPr/>
        </p:nvSpPr>
        <p:spPr>
          <a:xfrm>
            <a:off x="73152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246495"/>
          </a:xfrm>
          <a:prstGeom prst="rect">
            <a:avLst/>
          </a:prstGeom>
          <a:noFill/>
        </p:spPr>
        <p:txBody>
          <a:bodyPr wrap="square">
            <a:spAutoFit/>
          </a:bodyPr>
          <a:lstStyle/>
          <a:p>
            <a:pPr>
              <a:defRPr sz="1500" b="1">
                <a:solidFill>
                  <a:srgbClr val="002B49"/>
                </a:solidFill>
              </a:defRPr>
            </a:pPr>
            <a:r>
              <a:rPr dirty="0"/>
              <a:t>🚨  </a:t>
            </a:r>
            <a:r>
              <a:rPr lang="en-US" b="1" i="0" dirty="0">
                <a:solidFill>
                  <a:srgbClr val="0F172A"/>
                </a:solidFill>
                <a:effectLst/>
                <a:latin typeface="Plus Jakarta Sans"/>
              </a:rPr>
              <a:t>1. Difficulty Finding Trusted Technicians</a:t>
            </a:r>
          </a:p>
          <a:p>
            <a:pPr>
              <a:defRPr sz="1500" b="1">
                <a:solidFill>
                  <a:srgbClr val="002B49"/>
                </a:solidFill>
              </a:defRPr>
            </a:pPr>
            <a:endParaRPr lang="en-US" dirty="0"/>
          </a:p>
          <a:p>
            <a:pPr>
              <a:defRPr sz="1500" b="1">
                <a:solidFill>
                  <a:srgbClr val="002B49"/>
                </a:solidFill>
              </a:defRPr>
            </a:pPr>
            <a:r>
              <a:rPr lang="en-US" b="0" i="0" dirty="0">
                <a:solidFill>
                  <a:srgbClr val="475569"/>
                </a:solidFill>
                <a:effectLst/>
                <a:latin typeface="Plus Jakarta Sans"/>
              </a:rPr>
              <a:t>Homeowners struggle to find reliable, vetted handymen promptly during emergencies. Informal networks offer zero background checks or skill verification.</a:t>
            </a:r>
            <a:endParaRPr dirty="0"/>
          </a:p>
        </p:txBody>
      </p:sp>
      <p:sp>
        <p:nvSpPr>
          <p:cNvPr id="8" name="Rounded Rectangle 7"/>
          <p:cNvSpPr/>
          <p:nvPr/>
        </p:nvSpPr>
        <p:spPr>
          <a:xfrm>
            <a:off x="617220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500" b="1">
                <a:solidFill>
                  <a:srgbClr val="002B49"/>
                </a:solidFill>
              </a:defRPr>
            </a:pPr>
            <a:r>
              <a:t>⏱️  Delayed Household Repairs</a:t>
            </a:r>
          </a:p>
          <a:p>
            <a:pPr>
              <a:spcBef>
                <a:spcPts val="400"/>
              </a:spcBef>
              <a:defRPr sz="1100">
                <a:solidFill>
                  <a:srgbClr val="0F172A"/>
                </a:solidFill>
              </a:defRPr>
            </a:pPr>
            <a:r>
              <a:t>• Emergency plumbing leaks and electrical faults cause compounding property damage</a:t>
            </a:r>
          </a:p>
          <a:p>
            <a:pPr>
              <a:spcBef>
                <a:spcPts val="400"/>
              </a:spcBef>
              <a:defRPr sz="1100">
                <a:solidFill>
                  <a:srgbClr val="0F172A"/>
                </a:solidFill>
              </a:defRPr>
            </a:pPr>
            <a:r>
              <a:t>• Prolonged phone calls, repeated technician cancellations, and no-shows</a:t>
            </a:r>
          </a:p>
          <a:p>
            <a:pPr>
              <a:spcBef>
                <a:spcPts val="400"/>
              </a:spcBef>
              <a:defRPr sz="1100">
                <a:solidFill>
                  <a:srgbClr val="0F172A"/>
                </a:solidFill>
              </a:defRPr>
            </a:pPr>
            <a:r>
              <a:t>• Lack of immediate emergency broadcast dispatch</a:t>
            </a:r>
          </a:p>
        </p:txBody>
      </p:sp>
      <p:sp>
        <p:nvSpPr>
          <p:cNvPr id="10" name="Rounded Rectangle 9"/>
          <p:cNvSpPr/>
          <p:nvPr/>
        </p:nvSpPr>
        <p:spPr>
          <a:xfrm>
            <a:off x="73152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500" b="1">
                <a:solidFill>
                  <a:srgbClr val="002B49"/>
                </a:solidFill>
              </a:defRPr>
            </a:pPr>
            <a:r>
              <a:t>📱  Lack of Convenient Service Booking</a:t>
            </a:r>
          </a:p>
          <a:p>
            <a:pPr>
              <a:spcBef>
                <a:spcPts val="400"/>
              </a:spcBef>
              <a:defRPr sz="1100">
                <a:solidFill>
                  <a:srgbClr val="0F172A"/>
                </a:solidFill>
              </a:defRPr>
            </a:pPr>
            <a:r>
              <a:t>• No unified digital platform to browse standardized service categories and upfront prices</a:t>
            </a:r>
          </a:p>
          <a:p>
            <a:pPr>
              <a:spcBef>
                <a:spcPts val="400"/>
              </a:spcBef>
              <a:defRPr sz="1100">
                <a:solidFill>
                  <a:srgbClr val="0F172A"/>
                </a:solidFill>
              </a:defRPr>
            </a:pPr>
            <a:r>
              <a:t>• Unpredictable price haggling and arbitrary on-site fee inflations</a:t>
            </a:r>
          </a:p>
          <a:p>
            <a:pPr>
              <a:spcBef>
                <a:spcPts val="400"/>
              </a:spcBef>
              <a:defRPr sz="1100">
                <a:solidFill>
                  <a:srgbClr val="0F172A"/>
                </a:solidFill>
              </a:defRPr>
            </a:pPr>
            <a:r>
              <a:t>• Inefficient manual coordination with zero digital audit trail or warranty</a:t>
            </a:r>
          </a:p>
        </p:txBody>
      </p:sp>
      <p:sp>
        <p:nvSpPr>
          <p:cNvPr id="12" name="Rounded Rectangle 11"/>
          <p:cNvSpPr/>
          <p:nvPr/>
        </p:nvSpPr>
        <p:spPr>
          <a:xfrm>
            <a:off x="617220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500" b="1">
                <a:solidFill>
                  <a:srgbClr val="002B49"/>
                </a:solidFill>
              </a:defRPr>
            </a:pPr>
            <a:r>
              <a:t>📉  Difficulty for Technicians to Find Customers</a:t>
            </a:r>
          </a:p>
          <a:p>
            <a:pPr>
              <a:spcBef>
                <a:spcPts val="400"/>
              </a:spcBef>
              <a:defRPr sz="1100">
                <a:solidFill>
                  <a:srgbClr val="0F172A"/>
                </a:solidFill>
              </a:defRPr>
            </a:pPr>
            <a:r>
              <a:t>• Skilled tradespeople rely on street advertisements or small neighborhood networks</a:t>
            </a:r>
          </a:p>
          <a:p>
            <a:pPr>
              <a:spcBef>
                <a:spcPts val="400"/>
              </a:spcBef>
              <a:defRPr sz="1100">
                <a:solidFill>
                  <a:srgbClr val="0F172A"/>
                </a:solidFill>
              </a:defRPr>
            </a:pPr>
            <a:r>
              <a:t>• Irregular work pipeline leads to unstable daily income and financial insecurity</a:t>
            </a:r>
          </a:p>
          <a:p>
            <a:pPr>
              <a:spcBef>
                <a:spcPts val="400"/>
              </a:spcBef>
              <a:defRPr sz="1100">
                <a:solidFill>
                  <a:srgbClr val="0F172A"/>
                </a:solidFill>
              </a:defRPr>
            </a:pPr>
            <a:r>
              <a:t>• No digital portfolio to showcase trade certifications or client testimonials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04 | </a:t>
            </a:r>
            <a:r>
              <a:rPr sz="2200" b="1">
                <a:solidFill>
                  <a:srgbClr val="002B49"/>
                </a:solidFill>
              </a:rPr>
              <a:t>Project Objectives</a:t>
            </a:r>
          </a:p>
          <a:p>
            <a:pPr>
              <a:defRPr sz="1100">
                <a:solidFill>
                  <a:srgbClr val="64748B"/>
                </a:solidFill>
              </a:defRPr>
            </a:pPr>
            <a:r>
              <a:t>Defining the overall mission and specific engineering targets of Bete</a:t>
            </a:r>
          </a:p>
        </p:txBody>
      </p:sp>
      <p:sp>
        <p:nvSpPr>
          <p:cNvPr id="6" name="Rounded Rectangle 5"/>
          <p:cNvSpPr/>
          <p:nvPr/>
        </p:nvSpPr>
        <p:spPr>
          <a:xfrm>
            <a:off x="731520" y="1371600"/>
            <a:ext cx="10728655" cy="1554480"/>
          </a:xfrm>
          <a:prstGeom prst="roundRect">
            <a:avLst/>
          </a:prstGeom>
          <a:solidFill>
            <a:srgbClr val="EEF2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508760"/>
            <a:ext cx="10180015" cy="1280160"/>
          </a:xfrm>
          <a:prstGeom prst="rect">
            <a:avLst/>
          </a:prstGeom>
          <a:noFill/>
        </p:spPr>
        <p:txBody>
          <a:bodyPr wrap="square">
            <a:spAutoFit/>
          </a:bodyPr>
          <a:lstStyle/>
          <a:p>
            <a:pPr>
              <a:defRPr sz="1600" b="1">
                <a:solidFill>
                  <a:srgbClr val="0052CC"/>
                </a:solidFill>
              </a:defRPr>
            </a:pPr>
            <a:r>
              <a:t>🎯  General Objective</a:t>
            </a:r>
          </a:p>
          <a:p>
            <a:pPr>
              <a:spcBef>
                <a:spcPts val="400"/>
              </a:spcBef>
              <a:defRPr sz="1200">
                <a:solidFill>
                  <a:srgbClr val="0F172A"/>
                </a:solidFill>
              </a:defRPr>
            </a:pPr>
            <a:r>
              <a:t>To design, develop, and deploy a secure, mobile-first on-demand household repair and maintenance application that connects Ethiopian service seekers with verified, skilled technicians through real-time request broadcasting, competitive bidding, in-app messaging, and reliable quality ratings.</a:t>
            </a:r>
          </a:p>
        </p:txBody>
      </p:sp>
      <p:sp>
        <p:nvSpPr>
          <p:cNvPr id="8" name="Rounded Rectangle 7"/>
          <p:cNvSpPr/>
          <p:nvPr/>
        </p:nvSpPr>
        <p:spPr>
          <a:xfrm>
            <a:off x="731520" y="3154680"/>
            <a:ext cx="3429000" cy="3154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291840"/>
            <a:ext cx="3063240" cy="2834640"/>
          </a:xfrm>
          <a:prstGeom prst="rect">
            <a:avLst/>
          </a:prstGeom>
          <a:noFill/>
        </p:spPr>
        <p:txBody>
          <a:bodyPr wrap="square">
            <a:spAutoFit/>
          </a:bodyPr>
          <a:lstStyle/>
          <a:p>
            <a:pPr>
              <a:defRPr sz="1400" b="1">
                <a:solidFill>
                  <a:srgbClr val="002B49"/>
                </a:solidFill>
              </a:defRPr>
            </a:pPr>
            <a:r>
              <a:t>📱  Engineering &amp; Mobile Access</a:t>
            </a:r>
          </a:p>
          <a:p>
            <a:pPr>
              <a:spcBef>
                <a:spcPts val="600"/>
              </a:spcBef>
              <a:defRPr sz="1050">
                <a:solidFill>
                  <a:srgbClr val="0F172A"/>
                </a:solidFill>
              </a:defRPr>
            </a:pPr>
            <a:r>
              <a:t>• Build cross-platform Android/iOS client using React Native &amp; Expo</a:t>
            </a:r>
          </a:p>
          <a:p>
            <a:pPr>
              <a:spcBef>
                <a:spcPts val="600"/>
              </a:spcBef>
              <a:defRPr sz="1050">
                <a:solidFill>
                  <a:srgbClr val="0F172A"/>
                </a:solidFill>
              </a:defRPr>
            </a:pPr>
            <a:r>
              <a:t>• Create responsive, intuitive UI tailored for local user accessibility</a:t>
            </a:r>
          </a:p>
          <a:p>
            <a:pPr>
              <a:spcBef>
                <a:spcPts val="600"/>
              </a:spcBef>
              <a:defRPr sz="1050">
                <a:solidFill>
                  <a:srgbClr val="0F172A"/>
                </a:solidFill>
              </a:defRPr>
            </a:pPr>
            <a:r>
              <a:t>• Implement role-based navigation for Customers and Technicians</a:t>
            </a:r>
          </a:p>
        </p:txBody>
      </p:sp>
      <p:sp>
        <p:nvSpPr>
          <p:cNvPr id="10" name="Rounded Rectangle 9"/>
          <p:cNvSpPr/>
          <p:nvPr/>
        </p:nvSpPr>
        <p:spPr>
          <a:xfrm>
            <a:off x="4343400" y="3154680"/>
            <a:ext cx="3429000" cy="3154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3291840"/>
            <a:ext cx="3063240" cy="2834640"/>
          </a:xfrm>
          <a:prstGeom prst="rect">
            <a:avLst/>
          </a:prstGeom>
          <a:noFill/>
        </p:spPr>
        <p:txBody>
          <a:bodyPr wrap="square">
            <a:spAutoFit/>
          </a:bodyPr>
          <a:lstStyle/>
          <a:p>
            <a:pPr>
              <a:defRPr sz="1400" b="1">
                <a:solidFill>
                  <a:srgbClr val="002B49"/>
                </a:solidFill>
              </a:defRPr>
            </a:pPr>
            <a:r>
              <a:t>⚡  Broadcasting &amp; Real-Time Sync</a:t>
            </a:r>
          </a:p>
          <a:p>
            <a:pPr>
              <a:spcBef>
                <a:spcPts val="600"/>
              </a:spcBef>
              <a:defRPr sz="1050">
                <a:solidFill>
                  <a:srgbClr val="0F172A"/>
                </a:solidFill>
              </a:defRPr>
            </a:pPr>
            <a:r>
              <a:t>• Implement instant job broadcasting by subcity &amp; trade category</a:t>
            </a:r>
          </a:p>
          <a:p>
            <a:pPr>
              <a:spcBef>
                <a:spcPts val="600"/>
              </a:spcBef>
              <a:defRPr sz="1050">
                <a:solidFill>
                  <a:srgbClr val="0F172A"/>
                </a:solidFill>
              </a:defRPr>
            </a:pPr>
            <a:r>
              <a:t>• Deploy WebSocket chat &amp; Expo push notification alerts</a:t>
            </a:r>
          </a:p>
          <a:p>
            <a:pPr>
              <a:spcBef>
                <a:spcPts val="600"/>
              </a:spcBef>
              <a:defRPr sz="1050">
                <a:solidFill>
                  <a:srgbClr val="0F172A"/>
                </a:solidFill>
              </a:defRPr>
            </a:pPr>
            <a:r>
              <a:t>• Establish Connects credit system to prevent spam proposals</a:t>
            </a:r>
          </a:p>
        </p:txBody>
      </p:sp>
      <p:sp>
        <p:nvSpPr>
          <p:cNvPr id="12" name="Rounded Rectangle 11"/>
          <p:cNvSpPr/>
          <p:nvPr/>
        </p:nvSpPr>
        <p:spPr>
          <a:xfrm>
            <a:off x="7955280" y="3154680"/>
            <a:ext cx="3429000" cy="3154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60" y="3291840"/>
            <a:ext cx="3063240" cy="2834640"/>
          </a:xfrm>
          <a:prstGeom prst="rect">
            <a:avLst/>
          </a:prstGeom>
          <a:noFill/>
        </p:spPr>
        <p:txBody>
          <a:bodyPr wrap="square">
            <a:spAutoFit/>
          </a:bodyPr>
          <a:lstStyle/>
          <a:p>
            <a:pPr>
              <a:defRPr sz="1400" b="1">
                <a:solidFill>
                  <a:srgbClr val="002B49"/>
                </a:solidFill>
              </a:defRPr>
            </a:pPr>
            <a:r>
              <a:t>🛡️  Security, Vetting &amp; Trust</a:t>
            </a:r>
          </a:p>
          <a:p>
            <a:pPr>
              <a:spcBef>
                <a:spcPts val="600"/>
              </a:spcBef>
              <a:defRPr sz="1050">
                <a:solidFill>
                  <a:srgbClr val="0F172A"/>
                </a:solidFill>
              </a:defRPr>
            </a:pPr>
            <a:r>
              <a:t>• Enforce JWT token authentication &amp; bcrypt password hashing</a:t>
            </a:r>
          </a:p>
          <a:p>
            <a:pPr>
              <a:spcBef>
                <a:spcPts val="600"/>
              </a:spcBef>
              <a:defRPr sz="1050">
                <a:solidFill>
                  <a:srgbClr val="0F172A"/>
                </a:solidFill>
              </a:defRPr>
            </a:pPr>
            <a:r>
              <a:t>• Support document upload for ID and vocational trade certificates</a:t>
            </a:r>
          </a:p>
          <a:p>
            <a:pPr>
              <a:spcBef>
                <a:spcPts val="600"/>
              </a:spcBef>
              <a:defRPr sz="1050">
                <a:solidFill>
                  <a:srgbClr val="0F172A"/>
                </a:solidFill>
              </a:defRPr>
            </a:pPr>
            <a:r>
              <a:t>• Provide verified customer ratings to incentivize top workmanship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05 | </a:t>
            </a:r>
            <a:r>
              <a:rPr sz="2200" b="1">
                <a:solidFill>
                  <a:srgbClr val="002B49"/>
                </a:solidFill>
              </a:rPr>
              <a:t>Proposed Solution</a:t>
            </a:r>
          </a:p>
          <a:p>
            <a:pPr>
              <a:defRPr sz="1100">
                <a:solidFill>
                  <a:srgbClr val="64748B"/>
                </a:solidFill>
              </a:defRPr>
            </a:pPr>
            <a:r>
              <a:t>How Bete addresses each traditional repair challenge systematically</a:t>
            </a:r>
          </a:p>
        </p:txBody>
      </p:sp>
      <p:sp>
        <p:nvSpPr>
          <p:cNvPr id="6" name="Rounded Rectangle 5"/>
          <p:cNvSpPr/>
          <p:nvPr/>
        </p:nvSpPr>
        <p:spPr>
          <a:xfrm>
            <a:off x="731520" y="137160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874519"/>
          </a:xfrm>
          <a:prstGeom prst="rect">
            <a:avLst/>
          </a:prstGeom>
          <a:noFill/>
        </p:spPr>
        <p:txBody>
          <a:bodyPr wrap="square">
            <a:spAutoFit/>
          </a:bodyPr>
          <a:lstStyle/>
          <a:p>
            <a:pPr>
              <a:defRPr sz="1600" b="1">
                <a:solidFill>
                  <a:srgbClr val="002B49"/>
                </a:solidFill>
              </a:defRPr>
            </a:pPr>
            <a:r>
              <a:rPr dirty="0"/>
              <a:t>📡  Instant Broadcasting</a:t>
            </a:r>
          </a:p>
          <a:p>
            <a:pPr>
              <a:spcBef>
                <a:spcPts val="800"/>
              </a:spcBef>
              <a:defRPr sz="1200">
                <a:solidFill>
                  <a:srgbClr val="0F172A"/>
                </a:solidFill>
              </a:defRPr>
            </a:pPr>
            <a:r>
              <a:rPr dirty="0"/>
              <a:t>Customers post issue details, photos, and </a:t>
            </a:r>
            <a:r>
              <a:rPr dirty="0" err="1"/>
              <a:t>subcity</a:t>
            </a:r>
            <a:r>
              <a:rPr dirty="0"/>
              <a:t> location in under 2 minutes. The job is instantly dispatched to matching technicians.</a:t>
            </a:r>
          </a:p>
        </p:txBody>
      </p:sp>
      <p:sp>
        <p:nvSpPr>
          <p:cNvPr id="8" name="Rounded Rectangle 7"/>
          <p:cNvSpPr/>
          <p:nvPr/>
        </p:nvSpPr>
        <p:spPr>
          <a:xfrm>
            <a:off x="6172200" y="137160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600" b="1">
                <a:solidFill>
                  <a:srgbClr val="002B49"/>
                </a:solidFill>
              </a:defRPr>
            </a:pPr>
            <a:r>
              <a:t>✅  Verified Technician Profiles</a:t>
            </a:r>
          </a:p>
          <a:p>
            <a:pPr>
              <a:spcBef>
                <a:spcPts val="800"/>
              </a:spcBef>
              <a:defRPr sz="1200">
                <a:solidFill>
                  <a:srgbClr val="0F172A"/>
                </a:solidFill>
              </a:defRPr>
            </a:pPr>
            <a:r>
              <a:t>Service providers must submit identification and trade qualifications. Customers can inspect ratings, past reviews, and completed tasks.</a:t>
            </a:r>
          </a:p>
        </p:txBody>
      </p:sp>
      <p:sp>
        <p:nvSpPr>
          <p:cNvPr id="10" name="Rounded Rectangle 9"/>
          <p:cNvSpPr/>
          <p:nvPr/>
        </p:nvSpPr>
        <p:spPr>
          <a:xfrm>
            <a:off x="731520" y="384048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600" b="1">
                <a:solidFill>
                  <a:srgbClr val="002B49"/>
                </a:solidFill>
              </a:defRPr>
            </a:pPr>
            <a:r>
              <a:t>💰  Transparent Bidding Engine</a:t>
            </a:r>
          </a:p>
          <a:p>
            <a:pPr>
              <a:spcBef>
                <a:spcPts val="800"/>
              </a:spcBef>
              <a:defRPr sz="1200">
                <a:solidFill>
                  <a:srgbClr val="0F172A"/>
                </a:solidFill>
              </a:defRPr>
            </a:pPr>
            <a:r>
              <a:t>Technicians submit itemized price proposals. Customers compare bids, preventing extortionate price haggling or hidden charges.</a:t>
            </a:r>
          </a:p>
        </p:txBody>
      </p:sp>
      <p:sp>
        <p:nvSpPr>
          <p:cNvPr id="12" name="Rounded Rectangle 11"/>
          <p:cNvSpPr/>
          <p:nvPr/>
        </p:nvSpPr>
        <p:spPr>
          <a:xfrm>
            <a:off x="6172200" y="384048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600" b="1">
                <a:solidFill>
                  <a:srgbClr val="002B49"/>
                </a:solidFill>
              </a:defRPr>
            </a:pPr>
            <a:r>
              <a:t>💬  Real-time In-App Chat</a:t>
            </a:r>
          </a:p>
          <a:p>
            <a:pPr>
              <a:spcBef>
                <a:spcPts val="800"/>
              </a:spcBef>
              <a:defRPr sz="1200">
                <a:solidFill>
                  <a:srgbClr val="0F172A"/>
                </a:solidFill>
              </a:defRPr>
            </a:pPr>
            <a:r>
              <a:t>Built-in direct messaging powered by WebSockets allows seamless coordination, photo sharing, and arrival scheduling without sharing phone numbers.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06 | </a:t>
            </a:r>
            <a:r>
              <a:rPr sz="2200" b="1">
                <a:solidFill>
                  <a:srgbClr val="002B49"/>
                </a:solidFill>
              </a:rPr>
              <a:t>Target Users &amp; Stakeholders</a:t>
            </a:r>
          </a:p>
          <a:p>
            <a:pPr>
              <a:defRPr sz="1100">
                <a:solidFill>
                  <a:srgbClr val="64748B"/>
                </a:solidFill>
              </a:defRPr>
            </a:pPr>
            <a:r>
              <a:t>Three primary roles interacting within the Bete digital ecosystem</a:t>
            </a:r>
          </a:p>
        </p:txBody>
      </p:sp>
      <p:sp>
        <p:nvSpPr>
          <p:cNvPr id="6" name="Rounded Rectangle 5"/>
          <p:cNvSpPr/>
          <p:nvPr/>
        </p:nvSpPr>
        <p:spPr>
          <a:xfrm>
            <a:off x="731520" y="1371600"/>
            <a:ext cx="3429000" cy="48463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45920"/>
            <a:ext cx="2971800" cy="4297680"/>
          </a:xfrm>
          <a:prstGeom prst="rect">
            <a:avLst/>
          </a:prstGeom>
          <a:noFill/>
        </p:spPr>
        <p:txBody>
          <a:bodyPr wrap="square">
            <a:spAutoFit/>
          </a:bodyPr>
          <a:lstStyle/>
          <a:p>
            <a:pPr>
              <a:defRPr sz="1700" b="1">
                <a:solidFill>
                  <a:srgbClr val="002B49"/>
                </a:solidFill>
              </a:defRPr>
            </a:pPr>
            <a:r>
              <a:t>👤  Service Seekers</a:t>
            </a:r>
          </a:p>
          <a:p>
            <a:pPr>
              <a:spcBef>
                <a:spcPts val="200"/>
              </a:spcBef>
              <a:defRPr sz="1100">
                <a:solidFill>
                  <a:srgbClr val="64748B"/>
                </a:solidFill>
              </a:defRPr>
            </a:pPr>
            <a:r>
              <a:t>Homeowners &amp; Tenants</a:t>
            </a:r>
          </a:p>
          <a:p>
            <a:pPr>
              <a:spcBef>
                <a:spcPts val="800"/>
              </a:spcBef>
              <a:defRPr sz="1100">
                <a:solidFill>
                  <a:srgbClr val="0F172A"/>
                </a:solidFill>
              </a:defRPr>
            </a:pPr>
            <a:r>
              <a:t>• Individuals and businesses requiring reliable maintenance</a:t>
            </a:r>
          </a:p>
          <a:p>
            <a:pPr>
              <a:spcBef>
                <a:spcPts val="800"/>
              </a:spcBef>
              <a:defRPr sz="1100">
                <a:solidFill>
                  <a:srgbClr val="0F172A"/>
                </a:solidFill>
              </a:defRPr>
            </a:pPr>
            <a:r>
              <a:t>• Search by subcity and trade category</a:t>
            </a:r>
          </a:p>
          <a:p>
            <a:pPr>
              <a:spcBef>
                <a:spcPts val="800"/>
              </a:spcBef>
              <a:defRPr sz="1100">
                <a:solidFill>
                  <a:srgbClr val="0F172A"/>
                </a:solidFill>
              </a:defRPr>
            </a:pPr>
            <a:r>
              <a:t>• Post service requests with photos and budgets</a:t>
            </a:r>
          </a:p>
          <a:p>
            <a:pPr>
              <a:spcBef>
                <a:spcPts val="800"/>
              </a:spcBef>
              <a:defRPr sz="1100">
                <a:solidFill>
                  <a:srgbClr val="0F172A"/>
                </a:solidFill>
              </a:defRPr>
            </a:pPr>
            <a:r>
              <a:t>• Review provider profiles, chat, and rate services</a:t>
            </a:r>
          </a:p>
        </p:txBody>
      </p:sp>
      <p:sp>
        <p:nvSpPr>
          <p:cNvPr id="8" name="Rounded Rectangle 7"/>
          <p:cNvSpPr/>
          <p:nvPr/>
        </p:nvSpPr>
        <p:spPr>
          <a:xfrm>
            <a:off x="4343400" y="1371600"/>
            <a:ext cx="3429000" cy="48463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45920"/>
            <a:ext cx="2971800" cy="4297680"/>
          </a:xfrm>
          <a:prstGeom prst="rect">
            <a:avLst/>
          </a:prstGeom>
          <a:noFill/>
        </p:spPr>
        <p:txBody>
          <a:bodyPr wrap="square">
            <a:spAutoFit/>
          </a:bodyPr>
          <a:lstStyle/>
          <a:p>
            <a:pPr>
              <a:defRPr sz="1700" b="1">
                <a:solidFill>
                  <a:srgbClr val="002B49"/>
                </a:solidFill>
              </a:defRPr>
            </a:pPr>
            <a:r>
              <a:t>🔧  Service Providers</a:t>
            </a:r>
          </a:p>
          <a:p>
            <a:pPr>
              <a:spcBef>
                <a:spcPts val="200"/>
              </a:spcBef>
              <a:defRPr sz="1100">
                <a:solidFill>
                  <a:srgbClr val="64748B"/>
                </a:solidFill>
              </a:defRPr>
            </a:pPr>
            <a:r>
              <a:t>Certified Technicians</a:t>
            </a:r>
          </a:p>
          <a:p>
            <a:pPr>
              <a:spcBef>
                <a:spcPts val="800"/>
              </a:spcBef>
              <a:defRPr sz="1100">
                <a:solidFill>
                  <a:srgbClr val="0F172A"/>
                </a:solidFill>
              </a:defRPr>
            </a:pPr>
            <a:r>
              <a:t>• Plumbers, electricians, appliance technicians, carpenters</a:t>
            </a:r>
          </a:p>
          <a:p>
            <a:pPr>
              <a:spcBef>
                <a:spcPts val="800"/>
              </a:spcBef>
              <a:defRPr sz="1100">
                <a:solidFill>
                  <a:srgbClr val="0F172A"/>
                </a:solidFill>
              </a:defRPr>
            </a:pPr>
            <a:r>
              <a:t>• Toggle on/off-duty availability status</a:t>
            </a:r>
          </a:p>
          <a:p>
            <a:pPr>
              <a:spcBef>
                <a:spcPts val="800"/>
              </a:spcBef>
              <a:defRPr sz="1100">
                <a:solidFill>
                  <a:srgbClr val="0F172A"/>
                </a:solidFill>
              </a:defRPr>
            </a:pPr>
            <a:r>
              <a:t>• Receive real-time push alerts for matching jobs</a:t>
            </a:r>
          </a:p>
          <a:p>
            <a:pPr>
              <a:spcBef>
                <a:spcPts val="800"/>
              </a:spcBef>
              <a:defRPr sz="1100">
                <a:solidFill>
                  <a:srgbClr val="0F172A"/>
                </a:solidFill>
              </a:defRPr>
            </a:pPr>
            <a:r>
              <a:t>• Submit competitive bids and grow digital reputation</a:t>
            </a:r>
          </a:p>
        </p:txBody>
      </p:sp>
      <p:sp>
        <p:nvSpPr>
          <p:cNvPr id="10" name="Rounded Rectangle 9"/>
          <p:cNvSpPr/>
          <p:nvPr/>
        </p:nvSpPr>
        <p:spPr>
          <a:xfrm>
            <a:off x="7955280" y="1371600"/>
            <a:ext cx="3429000" cy="4846320"/>
          </a:xfrm>
          <a:prstGeom prst="roundRect">
            <a:avLst/>
          </a:prstGeom>
          <a:solidFill>
            <a:srgbClr val="FFFFFF"/>
          </a:solidFill>
          <a:ln>
            <a:solidFill>
              <a:srgbClr val="00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2971800" cy="4297680"/>
          </a:xfrm>
          <a:prstGeom prst="rect">
            <a:avLst/>
          </a:prstGeom>
          <a:noFill/>
        </p:spPr>
        <p:txBody>
          <a:bodyPr wrap="square">
            <a:spAutoFit/>
          </a:bodyPr>
          <a:lstStyle/>
          <a:p>
            <a:pPr>
              <a:defRPr sz="1700" b="1">
                <a:solidFill>
                  <a:srgbClr val="002B49"/>
                </a:solidFill>
              </a:defRPr>
            </a:pPr>
            <a:r>
              <a:t>🛡️  Platform Admin</a:t>
            </a:r>
          </a:p>
          <a:p>
            <a:pPr>
              <a:spcBef>
                <a:spcPts val="200"/>
              </a:spcBef>
              <a:defRPr sz="1100">
                <a:solidFill>
                  <a:srgbClr val="64748B"/>
                </a:solidFill>
              </a:defRPr>
            </a:pPr>
            <a:r>
              <a:t>System Oversight</a:t>
            </a:r>
          </a:p>
          <a:p>
            <a:pPr>
              <a:spcBef>
                <a:spcPts val="800"/>
              </a:spcBef>
              <a:defRPr sz="1100">
                <a:solidFill>
                  <a:srgbClr val="0F172A"/>
                </a:solidFill>
              </a:defRPr>
            </a:pPr>
            <a:r>
              <a:t>• Platform administrators ensuring service quality</a:t>
            </a:r>
          </a:p>
          <a:p>
            <a:pPr>
              <a:spcBef>
                <a:spcPts val="800"/>
              </a:spcBef>
              <a:defRPr sz="1100">
                <a:solidFill>
                  <a:srgbClr val="0F172A"/>
                </a:solidFill>
              </a:defRPr>
            </a:pPr>
            <a:r>
              <a:t>• Verify technician identity and trade certificates</a:t>
            </a:r>
          </a:p>
          <a:p>
            <a:pPr>
              <a:spcBef>
                <a:spcPts val="800"/>
              </a:spcBef>
              <a:defRPr sz="1100">
                <a:solidFill>
                  <a:srgbClr val="0F172A"/>
                </a:solidFill>
              </a:defRPr>
            </a:pPr>
            <a:r>
              <a:t>• Monitor platform analytics, dispute mediation</a:t>
            </a:r>
          </a:p>
          <a:p>
            <a:pPr>
              <a:spcBef>
                <a:spcPts val="800"/>
              </a:spcBef>
              <a:defRPr sz="1100">
                <a:solidFill>
                  <a:srgbClr val="0F172A"/>
                </a:solidFill>
              </a:defRPr>
            </a:pPr>
            <a:r>
              <a:t>• Manage service categories and user compliance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07 | </a:t>
            </a:r>
            <a:r>
              <a:rPr sz="2200" b="1">
                <a:solidFill>
                  <a:srgbClr val="002B49"/>
                </a:solidFill>
              </a:rPr>
              <a:t>Main Features</a:t>
            </a:r>
          </a:p>
          <a:p>
            <a:pPr>
              <a:defRPr sz="1100">
                <a:solidFill>
                  <a:srgbClr val="64748B"/>
                </a:solidFill>
              </a:defRPr>
            </a:pPr>
            <a:r>
              <a:t>Core capabilities delivered across the mobile platform</a:t>
            </a:r>
          </a:p>
        </p:txBody>
      </p:sp>
      <p:sp>
        <p:nvSpPr>
          <p:cNvPr id="6" name="Rounded Rectangle 5"/>
          <p:cNvSpPr/>
          <p:nvPr/>
        </p:nvSpPr>
        <p:spPr>
          <a:xfrm>
            <a:off x="731520" y="137160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08760"/>
            <a:ext cx="2231136" cy="1920240"/>
          </a:xfrm>
          <a:prstGeom prst="rect">
            <a:avLst/>
          </a:prstGeom>
          <a:noFill/>
        </p:spPr>
        <p:txBody>
          <a:bodyPr wrap="square">
            <a:spAutoFit/>
          </a:bodyPr>
          <a:lstStyle/>
          <a:p>
            <a:pPr>
              <a:defRPr sz="1300" b="1">
                <a:solidFill>
                  <a:srgbClr val="002B49"/>
                </a:solidFill>
              </a:defRPr>
            </a:pPr>
            <a:r>
              <a:t>📋  Service Selection</a:t>
            </a:r>
          </a:p>
          <a:p>
            <a:pPr>
              <a:spcBef>
                <a:spcPts val="600"/>
              </a:spcBef>
              <a:defRPr sz="1050">
                <a:solidFill>
                  <a:srgbClr val="0F172A"/>
                </a:solidFill>
              </a:defRPr>
            </a:pPr>
            <a:r>
              <a:t>5 core categories &amp; 16+ granular specialties (plumbing, electrical, appliance repair).</a:t>
            </a:r>
          </a:p>
        </p:txBody>
      </p:sp>
      <p:sp>
        <p:nvSpPr>
          <p:cNvPr id="8" name="Rounded Rectangle 7"/>
          <p:cNvSpPr/>
          <p:nvPr/>
        </p:nvSpPr>
        <p:spPr>
          <a:xfrm>
            <a:off x="3429000" y="137160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93592" y="1508760"/>
            <a:ext cx="2231136" cy="1920240"/>
          </a:xfrm>
          <a:prstGeom prst="rect">
            <a:avLst/>
          </a:prstGeom>
          <a:noFill/>
        </p:spPr>
        <p:txBody>
          <a:bodyPr wrap="square">
            <a:spAutoFit/>
          </a:bodyPr>
          <a:lstStyle/>
          <a:p>
            <a:pPr>
              <a:defRPr sz="1300" b="1">
                <a:solidFill>
                  <a:srgbClr val="002B49"/>
                </a:solidFill>
              </a:defRPr>
            </a:pPr>
            <a:r>
              <a:t>📝  Problem Description</a:t>
            </a:r>
          </a:p>
          <a:p>
            <a:pPr>
              <a:spcBef>
                <a:spcPts val="600"/>
              </a:spcBef>
              <a:defRPr sz="1050">
                <a:solidFill>
                  <a:srgbClr val="0F172A"/>
                </a:solidFill>
              </a:defRPr>
            </a:pPr>
            <a:r>
              <a:t>Detailed problem description with custom urgency levels: Today &amp; Emergency (+5).</a:t>
            </a:r>
          </a:p>
        </p:txBody>
      </p:sp>
      <p:sp>
        <p:nvSpPr>
          <p:cNvPr id="10" name="Rounded Rectangle 9"/>
          <p:cNvSpPr/>
          <p:nvPr/>
        </p:nvSpPr>
        <p:spPr>
          <a:xfrm>
            <a:off x="6126480" y="137160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91072" y="1508760"/>
            <a:ext cx="2231136" cy="1920240"/>
          </a:xfrm>
          <a:prstGeom prst="rect">
            <a:avLst/>
          </a:prstGeom>
          <a:noFill/>
        </p:spPr>
        <p:txBody>
          <a:bodyPr wrap="square">
            <a:spAutoFit/>
          </a:bodyPr>
          <a:lstStyle/>
          <a:p>
            <a:pPr>
              <a:defRPr sz="1300" b="1">
                <a:solidFill>
                  <a:srgbClr val="002B49"/>
                </a:solidFill>
              </a:defRPr>
            </a:pPr>
            <a:r>
              <a:t>📷  Photo Attachment</a:t>
            </a:r>
          </a:p>
          <a:p>
            <a:pPr>
              <a:spcBef>
                <a:spcPts val="600"/>
              </a:spcBef>
              <a:defRPr sz="1050">
                <a:solidFill>
                  <a:srgbClr val="0F172A"/>
                </a:solidFill>
              </a:defRPr>
            </a:pPr>
            <a:r>
              <a:t>Direct camera/gallery image picker to attach visual evidence of household damage.</a:t>
            </a:r>
          </a:p>
        </p:txBody>
      </p:sp>
      <p:sp>
        <p:nvSpPr>
          <p:cNvPr id="12" name="Rounded Rectangle 11"/>
          <p:cNvSpPr/>
          <p:nvPr/>
        </p:nvSpPr>
        <p:spPr>
          <a:xfrm>
            <a:off x="8823960" y="137160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88552" y="1508760"/>
            <a:ext cx="2231136" cy="1920240"/>
          </a:xfrm>
          <a:prstGeom prst="rect">
            <a:avLst/>
          </a:prstGeom>
          <a:noFill/>
        </p:spPr>
        <p:txBody>
          <a:bodyPr wrap="square">
            <a:spAutoFit/>
          </a:bodyPr>
          <a:lstStyle/>
          <a:p>
            <a:pPr>
              <a:defRPr sz="1300" b="1">
                <a:solidFill>
                  <a:srgbClr val="002B49"/>
                </a:solidFill>
              </a:defRPr>
            </a:pPr>
            <a:r>
              <a:t>🔍  Technician Discovery</a:t>
            </a:r>
          </a:p>
          <a:p>
            <a:pPr>
              <a:spcBef>
                <a:spcPts val="600"/>
              </a:spcBef>
              <a:defRPr sz="1050">
                <a:solidFill>
                  <a:srgbClr val="0F172A"/>
                </a:solidFill>
              </a:defRPr>
            </a:pPr>
            <a:r>
              <a:t>Browse verified technicians filtered by subcity, trade category, and customer rating.</a:t>
            </a:r>
          </a:p>
        </p:txBody>
      </p:sp>
      <p:sp>
        <p:nvSpPr>
          <p:cNvPr id="14" name="Rounded Rectangle 13"/>
          <p:cNvSpPr/>
          <p:nvPr/>
        </p:nvSpPr>
        <p:spPr>
          <a:xfrm>
            <a:off x="731520" y="384048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3977640"/>
            <a:ext cx="2231136" cy="1920240"/>
          </a:xfrm>
          <a:prstGeom prst="rect">
            <a:avLst/>
          </a:prstGeom>
          <a:noFill/>
        </p:spPr>
        <p:txBody>
          <a:bodyPr wrap="square">
            <a:spAutoFit/>
          </a:bodyPr>
          <a:lstStyle/>
          <a:p>
            <a:pPr>
              <a:defRPr sz="1300" b="1">
                <a:solidFill>
                  <a:srgbClr val="002B49"/>
                </a:solidFill>
              </a:defRPr>
            </a:pPr>
            <a:r>
              <a:t>💼  Service Request &amp; Bidding</a:t>
            </a:r>
          </a:p>
          <a:p>
            <a:pPr>
              <a:spcBef>
                <a:spcPts val="600"/>
              </a:spcBef>
              <a:defRPr sz="1050">
                <a:solidFill>
                  <a:srgbClr val="0F172A"/>
                </a:solidFill>
              </a:defRPr>
            </a:pPr>
            <a:r>
              <a:t>Automated broadcasting with a competitive quotation engine and connects balance.</a:t>
            </a:r>
          </a:p>
        </p:txBody>
      </p:sp>
      <p:sp>
        <p:nvSpPr>
          <p:cNvPr id="16" name="Rounded Rectangle 15"/>
          <p:cNvSpPr/>
          <p:nvPr/>
        </p:nvSpPr>
        <p:spPr>
          <a:xfrm>
            <a:off x="3429000" y="384048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93592" y="3977640"/>
            <a:ext cx="2231136" cy="1920240"/>
          </a:xfrm>
          <a:prstGeom prst="rect">
            <a:avLst/>
          </a:prstGeom>
          <a:noFill/>
        </p:spPr>
        <p:txBody>
          <a:bodyPr wrap="square">
            <a:spAutoFit/>
          </a:bodyPr>
          <a:lstStyle/>
          <a:p>
            <a:pPr>
              <a:defRPr sz="1300" b="1">
                <a:solidFill>
                  <a:srgbClr val="002B49"/>
                </a:solidFill>
              </a:defRPr>
            </a:pPr>
            <a:r>
              <a:t>⭐  Ratings &amp; Reviews</a:t>
            </a:r>
          </a:p>
          <a:p>
            <a:pPr>
              <a:spcBef>
                <a:spcPts val="600"/>
              </a:spcBef>
              <a:defRPr sz="1050">
                <a:solidFill>
                  <a:srgbClr val="0F172A"/>
                </a:solidFill>
              </a:defRPr>
            </a:pPr>
            <a:r>
              <a:t>Verified customer feedback with 1–5 star scores to build long-term artisan trust.</a:t>
            </a:r>
          </a:p>
        </p:txBody>
      </p:sp>
      <p:sp>
        <p:nvSpPr>
          <p:cNvPr id="18" name="Rounded Rectangle 17"/>
          <p:cNvSpPr/>
          <p:nvPr/>
        </p:nvSpPr>
        <p:spPr>
          <a:xfrm>
            <a:off x="6126480" y="384048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91072" y="3977640"/>
            <a:ext cx="2231136" cy="1920240"/>
          </a:xfrm>
          <a:prstGeom prst="rect">
            <a:avLst/>
          </a:prstGeom>
          <a:noFill/>
        </p:spPr>
        <p:txBody>
          <a:bodyPr wrap="square">
            <a:spAutoFit/>
          </a:bodyPr>
          <a:lstStyle/>
          <a:p>
            <a:pPr>
              <a:defRPr sz="1300" b="1">
                <a:solidFill>
                  <a:srgbClr val="002B49"/>
                </a:solidFill>
              </a:defRPr>
            </a:pPr>
            <a:r>
              <a:t>👤  User Profiles &amp; Vetting</a:t>
            </a:r>
          </a:p>
          <a:p>
            <a:pPr>
              <a:spcBef>
                <a:spcPts val="600"/>
              </a:spcBef>
              <a:defRPr sz="1050">
                <a:solidFill>
                  <a:srgbClr val="0F172A"/>
                </a:solidFill>
              </a:defRPr>
            </a:pPr>
            <a:r>
              <a:t>Edit profile, upload credentials, manage availability, and view transaction history.</a:t>
            </a:r>
          </a:p>
        </p:txBody>
      </p:sp>
      <p:sp>
        <p:nvSpPr>
          <p:cNvPr id="20" name="Rounded Rectangle 19"/>
          <p:cNvSpPr/>
          <p:nvPr/>
        </p:nvSpPr>
        <p:spPr>
          <a:xfrm>
            <a:off x="8823960" y="3840480"/>
            <a:ext cx="256032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88552" y="3977640"/>
            <a:ext cx="2231136" cy="1920240"/>
          </a:xfrm>
          <a:prstGeom prst="rect">
            <a:avLst/>
          </a:prstGeom>
          <a:noFill/>
        </p:spPr>
        <p:txBody>
          <a:bodyPr wrap="square">
            <a:spAutoFit/>
          </a:bodyPr>
          <a:lstStyle/>
          <a:p>
            <a:pPr>
              <a:defRPr sz="1300" b="1">
                <a:solidFill>
                  <a:srgbClr val="002B49"/>
                </a:solidFill>
              </a:defRPr>
            </a:pPr>
            <a:r>
              <a:t>🔒  Role-Based Access</a:t>
            </a:r>
          </a:p>
          <a:p>
            <a:pPr>
              <a:spcBef>
                <a:spcPts val="600"/>
              </a:spcBef>
              <a:defRPr sz="1050">
                <a:solidFill>
                  <a:srgbClr val="0F172A"/>
                </a:solidFill>
              </a:defRPr>
            </a:pPr>
            <a:r>
              <a:t>Dedicated navigation flows and distinct permissions for customers vs. technicians.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08 | </a:t>
            </a:r>
            <a:r>
              <a:rPr sz="2200" b="1">
                <a:solidFill>
                  <a:srgbClr val="002B49"/>
                </a:solidFill>
              </a:rPr>
              <a:t>System Workflow / How Bete Works</a:t>
            </a:r>
          </a:p>
          <a:p>
            <a:pPr>
              <a:defRPr sz="1100">
                <a:solidFill>
                  <a:srgbClr val="64748B"/>
                </a:solidFill>
              </a:defRPr>
            </a:pPr>
            <a:r>
              <a:t>Step-by-step lifecycle from request posting to completed repair</a:t>
            </a:r>
          </a:p>
        </p:txBody>
      </p:sp>
      <p:sp>
        <p:nvSpPr>
          <p:cNvPr id="6" name="Rounded Rectangle 5"/>
          <p:cNvSpPr/>
          <p:nvPr/>
        </p:nvSpPr>
        <p:spPr>
          <a:xfrm>
            <a:off x="731520" y="1645920"/>
            <a:ext cx="2011680" cy="43891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28800"/>
            <a:ext cx="1737360" cy="3931920"/>
          </a:xfrm>
          <a:prstGeom prst="rect">
            <a:avLst/>
          </a:prstGeom>
          <a:noFill/>
        </p:spPr>
        <p:txBody>
          <a:bodyPr wrap="square">
            <a:spAutoFit/>
          </a:bodyPr>
          <a:lstStyle/>
          <a:p>
            <a:pPr>
              <a:defRPr sz="1500" b="1">
                <a:solidFill>
                  <a:srgbClr val="FF6B00"/>
                </a:solidFill>
              </a:defRPr>
            </a:pPr>
            <a:r>
              <a:t>📝 Step 1</a:t>
            </a:r>
          </a:p>
          <a:p>
            <a:pPr>
              <a:spcBef>
                <a:spcPts val="800"/>
              </a:spcBef>
              <a:defRPr sz="1300" b="1">
                <a:solidFill>
                  <a:srgbClr val="002B49"/>
                </a:solidFill>
              </a:defRPr>
            </a:pPr>
            <a:r>
              <a:t>Customer Requests Service</a:t>
            </a:r>
          </a:p>
          <a:p>
            <a:pPr>
              <a:spcBef>
                <a:spcPts val="1000"/>
              </a:spcBef>
              <a:defRPr sz="1050">
                <a:solidFill>
                  <a:srgbClr val="0F172A"/>
                </a:solidFill>
              </a:defRPr>
            </a:pPr>
            <a:r>
              <a:t>Customer selects service category, writes issue description, attaches photos, sets urgency, and broadcasts request.</a:t>
            </a:r>
          </a:p>
        </p:txBody>
      </p:sp>
      <p:sp>
        <p:nvSpPr>
          <p:cNvPr id="8" name="Rounded Rectangle 7"/>
          <p:cNvSpPr/>
          <p:nvPr/>
        </p:nvSpPr>
        <p:spPr>
          <a:xfrm>
            <a:off x="2907791" y="1645920"/>
            <a:ext cx="2011680" cy="43891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44951" y="1828800"/>
            <a:ext cx="1737360" cy="3931920"/>
          </a:xfrm>
          <a:prstGeom prst="rect">
            <a:avLst/>
          </a:prstGeom>
          <a:noFill/>
        </p:spPr>
        <p:txBody>
          <a:bodyPr wrap="square">
            <a:spAutoFit/>
          </a:bodyPr>
          <a:lstStyle/>
          <a:p>
            <a:pPr>
              <a:defRPr sz="1500" b="1">
                <a:solidFill>
                  <a:srgbClr val="FF6B00"/>
                </a:solidFill>
              </a:defRPr>
            </a:pPr>
            <a:r>
              <a:t>🔔 Step 2</a:t>
            </a:r>
          </a:p>
          <a:p>
            <a:pPr>
              <a:spcBef>
                <a:spcPts val="800"/>
              </a:spcBef>
              <a:defRPr sz="1300" b="1">
                <a:solidFill>
                  <a:srgbClr val="002B49"/>
                </a:solidFill>
              </a:defRPr>
            </a:pPr>
            <a:r>
              <a:t>Technician Receives Request</a:t>
            </a:r>
          </a:p>
          <a:p>
            <a:pPr>
              <a:spcBef>
                <a:spcPts val="1000"/>
              </a:spcBef>
              <a:defRPr sz="1050">
                <a:solidFill>
                  <a:srgbClr val="0F172A"/>
                </a:solidFill>
              </a:defRPr>
            </a:pPr>
            <a:r>
              <a:t>Matching technicians in the subcity receive instant push notifications &amp; socket alerts on their Jobs feed.</a:t>
            </a:r>
          </a:p>
        </p:txBody>
      </p:sp>
      <p:sp>
        <p:nvSpPr>
          <p:cNvPr id="10" name="Rounded Rectangle 9"/>
          <p:cNvSpPr/>
          <p:nvPr/>
        </p:nvSpPr>
        <p:spPr>
          <a:xfrm>
            <a:off x="5084064" y="1645920"/>
            <a:ext cx="2011680" cy="43891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21224" y="1828800"/>
            <a:ext cx="1737360" cy="3931920"/>
          </a:xfrm>
          <a:prstGeom prst="rect">
            <a:avLst/>
          </a:prstGeom>
          <a:noFill/>
        </p:spPr>
        <p:txBody>
          <a:bodyPr wrap="square">
            <a:spAutoFit/>
          </a:bodyPr>
          <a:lstStyle/>
          <a:p>
            <a:pPr>
              <a:defRPr sz="1500" b="1">
                <a:solidFill>
                  <a:srgbClr val="FF6B00"/>
                </a:solidFill>
              </a:defRPr>
            </a:pPr>
            <a:r>
              <a:t>🤝 Step 3</a:t>
            </a:r>
          </a:p>
          <a:p>
            <a:pPr>
              <a:spcBef>
                <a:spcPts val="800"/>
              </a:spcBef>
              <a:defRPr sz="1300" b="1">
                <a:solidFill>
                  <a:srgbClr val="002B49"/>
                </a:solidFill>
              </a:defRPr>
            </a:pPr>
            <a:r>
              <a:t>Technician Bids / Accepts</a:t>
            </a:r>
          </a:p>
          <a:p>
            <a:pPr>
              <a:spcBef>
                <a:spcPts val="1000"/>
              </a:spcBef>
              <a:defRPr sz="1050">
                <a:solidFill>
                  <a:srgbClr val="0F172A"/>
                </a:solidFill>
              </a:defRPr>
            </a:pPr>
            <a:r>
              <a:t>Technician reviews details and submits price proposal. Customer reviews bids and accepts preferred technician.</a:t>
            </a:r>
          </a:p>
        </p:txBody>
      </p:sp>
      <p:sp>
        <p:nvSpPr>
          <p:cNvPr id="12" name="Rounded Rectangle 11"/>
          <p:cNvSpPr/>
          <p:nvPr/>
        </p:nvSpPr>
        <p:spPr>
          <a:xfrm>
            <a:off x="7260336" y="1645920"/>
            <a:ext cx="2011680" cy="43891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97496" y="1828800"/>
            <a:ext cx="1737360" cy="3931920"/>
          </a:xfrm>
          <a:prstGeom prst="rect">
            <a:avLst/>
          </a:prstGeom>
          <a:noFill/>
        </p:spPr>
        <p:txBody>
          <a:bodyPr wrap="square">
            <a:spAutoFit/>
          </a:bodyPr>
          <a:lstStyle/>
          <a:p>
            <a:pPr>
              <a:defRPr sz="1500" b="1">
                <a:solidFill>
                  <a:srgbClr val="FF6B00"/>
                </a:solidFill>
              </a:defRPr>
            </a:pPr>
            <a:r>
              <a:t>🔧 Step 4</a:t>
            </a:r>
          </a:p>
          <a:p>
            <a:pPr>
              <a:spcBef>
                <a:spcPts val="800"/>
              </a:spcBef>
              <a:defRPr sz="1300" b="1">
                <a:solidFill>
                  <a:srgbClr val="002B49"/>
                </a:solidFill>
              </a:defRPr>
            </a:pPr>
            <a:r>
              <a:t>Service Execution &amp; Chat</a:t>
            </a:r>
          </a:p>
          <a:p>
            <a:pPr>
              <a:spcBef>
                <a:spcPts val="1000"/>
              </a:spcBef>
              <a:defRPr sz="1050">
                <a:solidFill>
                  <a:srgbClr val="0F172A"/>
                </a:solidFill>
              </a:defRPr>
            </a:pPr>
            <a:r>
              <a:t>Technician and customer coordinate arrival details via real-time in-app chat. Technician completes the repair.</a:t>
            </a:r>
          </a:p>
        </p:txBody>
      </p:sp>
      <p:sp>
        <p:nvSpPr>
          <p:cNvPr id="14" name="Rounded Rectangle 13"/>
          <p:cNvSpPr/>
          <p:nvPr/>
        </p:nvSpPr>
        <p:spPr>
          <a:xfrm>
            <a:off x="9436608" y="1645920"/>
            <a:ext cx="2011680" cy="43891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73768" y="1828800"/>
            <a:ext cx="1737360" cy="3931920"/>
          </a:xfrm>
          <a:prstGeom prst="rect">
            <a:avLst/>
          </a:prstGeom>
          <a:noFill/>
        </p:spPr>
        <p:txBody>
          <a:bodyPr wrap="square">
            <a:spAutoFit/>
          </a:bodyPr>
          <a:lstStyle/>
          <a:p>
            <a:pPr>
              <a:defRPr sz="1500" b="1">
                <a:solidFill>
                  <a:srgbClr val="FF6B00"/>
                </a:solidFill>
              </a:defRPr>
            </a:pPr>
            <a:r>
              <a:t>⭐ Step 5</a:t>
            </a:r>
          </a:p>
          <a:p>
            <a:pPr>
              <a:spcBef>
                <a:spcPts val="800"/>
              </a:spcBef>
              <a:defRPr sz="1300" b="1">
                <a:solidFill>
                  <a:srgbClr val="002B49"/>
                </a:solidFill>
              </a:defRPr>
            </a:pPr>
            <a:r>
              <a:t>Completion &amp; Rating</a:t>
            </a:r>
          </a:p>
          <a:p>
            <a:pPr>
              <a:spcBef>
                <a:spcPts val="1000"/>
              </a:spcBef>
              <a:defRPr sz="1050">
                <a:solidFill>
                  <a:srgbClr val="0F172A"/>
                </a:solidFill>
              </a:defRPr>
            </a:pPr>
            <a:r>
              <a:t>Customer confirms successful completion, settles payment, and submits a 1-5 star verified rating &amp;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09 | </a:t>
            </a:r>
            <a:r>
              <a:rPr sz="2200" b="1">
                <a:solidFill>
                  <a:srgbClr val="002B49"/>
                </a:solidFill>
              </a:rPr>
              <a:t>System Architecture</a:t>
            </a:r>
          </a:p>
          <a:p>
            <a:pPr>
              <a:defRPr sz="1100">
                <a:solidFill>
                  <a:srgbClr val="64748B"/>
                </a:solidFill>
              </a:defRPr>
            </a:pPr>
            <a:r>
              <a:t>Three-tier distributed architecture ensuring scalability, speed, and security</a:t>
            </a:r>
          </a:p>
        </p:txBody>
      </p:sp>
      <p:sp>
        <p:nvSpPr>
          <p:cNvPr id="6" name="Rounded Rectangle 5"/>
          <p:cNvSpPr/>
          <p:nvPr/>
        </p:nvSpPr>
        <p:spPr>
          <a:xfrm>
            <a:off x="731520" y="1371600"/>
            <a:ext cx="3429000" cy="48463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45920"/>
            <a:ext cx="2971800" cy="4297680"/>
          </a:xfrm>
          <a:prstGeom prst="rect">
            <a:avLst/>
          </a:prstGeom>
          <a:noFill/>
        </p:spPr>
        <p:txBody>
          <a:bodyPr wrap="square">
            <a:spAutoFit/>
          </a:bodyPr>
          <a:lstStyle/>
          <a:p>
            <a:pPr>
              <a:defRPr sz="1500" b="1">
                <a:solidFill>
                  <a:srgbClr val="002B49"/>
                </a:solidFill>
              </a:defRPr>
            </a:pPr>
            <a:r>
              <a:t>📱  Mobile Client (Presentation)</a:t>
            </a:r>
          </a:p>
          <a:p>
            <a:pPr>
              <a:spcBef>
                <a:spcPts val="800"/>
              </a:spcBef>
              <a:defRPr sz="1100">
                <a:solidFill>
                  <a:srgbClr val="0F172A"/>
                </a:solidFill>
              </a:defRPr>
            </a:pPr>
            <a:r>
              <a:t>• React Native &amp; Expo SDK 54</a:t>
            </a:r>
          </a:p>
          <a:p>
            <a:pPr>
              <a:spcBef>
                <a:spcPts val="800"/>
              </a:spcBef>
              <a:defRPr sz="1100">
                <a:solidFill>
                  <a:srgbClr val="0F172A"/>
                </a:solidFill>
              </a:defRPr>
            </a:pPr>
            <a:r>
              <a:t>• Expo Router file-based navigation</a:t>
            </a:r>
          </a:p>
          <a:p>
            <a:pPr>
              <a:spcBef>
                <a:spcPts val="800"/>
              </a:spcBef>
              <a:defRPr sz="1100">
                <a:solidFill>
                  <a:srgbClr val="0F172A"/>
                </a:solidFill>
              </a:defRPr>
            </a:pPr>
            <a:r>
              <a:t>• TypeScript for type safety &amp; fewer runtime bugs</a:t>
            </a:r>
          </a:p>
          <a:p>
            <a:pPr>
              <a:spcBef>
                <a:spcPts val="800"/>
              </a:spcBef>
              <a:defRPr sz="1100">
                <a:solidFill>
                  <a:srgbClr val="0F172A"/>
                </a:solidFill>
              </a:defRPr>
            </a:pPr>
            <a:r>
              <a:t>• SecureStore for encrypted local JWT tokens</a:t>
            </a:r>
          </a:p>
          <a:p>
            <a:pPr>
              <a:spcBef>
                <a:spcPts val="800"/>
              </a:spcBef>
              <a:defRPr sz="1100">
                <a:solidFill>
                  <a:srgbClr val="0F172A"/>
                </a:solidFill>
              </a:defRPr>
            </a:pPr>
            <a:r>
              <a:t>• Responsive scaling utility across Android devices</a:t>
            </a:r>
          </a:p>
        </p:txBody>
      </p:sp>
      <p:sp>
        <p:nvSpPr>
          <p:cNvPr id="8" name="Rounded Rectangle 7"/>
          <p:cNvSpPr/>
          <p:nvPr/>
        </p:nvSpPr>
        <p:spPr>
          <a:xfrm>
            <a:off x="4343400" y="1371600"/>
            <a:ext cx="3429000" cy="48463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45920"/>
            <a:ext cx="2971800" cy="4297680"/>
          </a:xfrm>
          <a:prstGeom prst="rect">
            <a:avLst/>
          </a:prstGeom>
          <a:noFill/>
        </p:spPr>
        <p:txBody>
          <a:bodyPr wrap="square">
            <a:spAutoFit/>
          </a:bodyPr>
          <a:lstStyle/>
          <a:p>
            <a:pPr>
              <a:defRPr sz="1500" b="1">
                <a:solidFill>
                  <a:srgbClr val="002B49"/>
                </a:solidFill>
              </a:defRPr>
            </a:pPr>
            <a:r>
              <a:t>⚙️  Backend Server (Application Logic)</a:t>
            </a:r>
          </a:p>
          <a:p>
            <a:pPr>
              <a:spcBef>
                <a:spcPts val="800"/>
              </a:spcBef>
              <a:defRPr sz="1100">
                <a:solidFill>
                  <a:srgbClr val="0F172A"/>
                </a:solidFill>
              </a:defRPr>
            </a:pPr>
            <a:r>
              <a:t>• Node.js &amp; Express.js REST API</a:t>
            </a:r>
          </a:p>
          <a:p>
            <a:pPr>
              <a:spcBef>
                <a:spcPts val="800"/>
              </a:spcBef>
              <a:defRPr sz="1100">
                <a:solidFill>
                  <a:srgbClr val="0F172A"/>
                </a:solidFill>
              </a:defRPr>
            </a:pPr>
            <a:r>
              <a:t>• Socket.io for bidirectional live chat rooms</a:t>
            </a:r>
          </a:p>
          <a:p>
            <a:pPr>
              <a:spcBef>
                <a:spcPts val="800"/>
              </a:spcBef>
              <a:defRPr sz="1100">
                <a:solidFill>
                  <a:srgbClr val="0F172A"/>
                </a:solidFill>
              </a:defRPr>
            </a:pPr>
            <a:r>
              <a:t>• JWT Middleware for role-based authentication</a:t>
            </a:r>
          </a:p>
          <a:p>
            <a:pPr>
              <a:spcBef>
                <a:spcPts val="800"/>
              </a:spcBef>
              <a:defRPr sz="1100">
                <a:solidFill>
                  <a:srgbClr val="0F172A"/>
                </a:solidFill>
              </a:defRPr>
            </a:pPr>
            <a:r>
              <a:t>• Multer for photo/document multipart uploads</a:t>
            </a:r>
          </a:p>
          <a:p>
            <a:pPr>
              <a:spcBef>
                <a:spcPts val="800"/>
              </a:spcBef>
              <a:defRPr sz="1100">
                <a:solidFill>
                  <a:srgbClr val="0F172A"/>
                </a:solidFill>
              </a:defRPr>
            </a:pPr>
            <a:r>
              <a:t>• Hosted on Render Cloud Infrastructure</a:t>
            </a:r>
          </a:p>
        </p:txBody>
      </p:sp>
      <p:sp>
        <p:nvSpPr>
          <p:cNvPr id="10" name="Rounded Rectangle 9"/>
          <p:cNvSpPr/>
          <p:nvPr/>
        </p:nvSpPr>
        <p:spPr>
          <a:xfrm>
            <a:off x="7955280" y="1371600"/>
            <a:ext cx="3429000" cy="4846320"/>
          </a:xfrm>
          <a:prstGeom prst="roundRect">
            <a:avLst/>
          </a:prstGeom>
          <a:solidFill>
            <a:srgbClr val="FFFFFF"/>
          </a:solidFill>
          <a:ln>
            <a:solidFill>
              <a:srgbClr val="00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2971800" cy="4297680"/>
          </a:xfrm>
          <a:prstGeom prst="rect">
            <a:avLst/>
          </a:prstGeom>
          <a:noFill/>
        </p:spPr>
        <p:txBody>
          <a:bodyPr wrap="square">
            <a:spAutoFit/>
          </a:bodyPr>
          <a:lstStyle/>
          <a:p>
            <a:pPr>
              <a:defRPr sz="1500" b="1">
                <a:solidFill>
                  <a:srgbClr val="002B49"/>
                </a:solidFill>
              </a:defRPr>
            </a:pPr>
            <a:r>
              <a:t>🗄️  Data &amp; Services (Persistence &amp; Cloud)</a:t>
            </a:r>
          </a:p>
          <a:p>
            <a:pPr>
              <a:spcBef>
                <a:spcPts val="800"/>
              </a:spcBef>
              <a:defRPr sz="1100">
                <a:solidFill>
                  <a:srgbClr val="0F172A"/>
                </a:solidFill>
              </a:defRPr>
            </a:pPr>
            <a:r>
              <a:t>• MongoDB Atlas NoSQL document database</a:t>
            </a:r>
          </a:p>
          <a:p>
            <a:pPr>
              <a:spcBef>
                <a:spcPts val="800"/>
              </a:spcBef>
              <a:defRPr sz="1100">
                <a:solidFill>
                  <a:srgbClr val="0F172A"/>
                </a:solidFill>
              </a:defRPr>
            </a:pPr>
            <a:r>
              <a:t>• Mongoose ODM for structured data modeling</a:t>
            </a:r>
          </a:p>
          <a:p>
            <a:pPr>
              <a:spcBef>
                <a:spcPts val="800"/>
              </a:spcBef>
              <a:defRPr sz="1100">
                <a:solidFill>
                  <a:srgbClr val="0F172A"/>
                </a:solidFill>
              </a:defRPr>
            </a:pPr>
            <a:r>
              <a:t>• Expo Push Notification HTTP Service</a:t>
            </a:r>
          </a:p>
          <a:p>
            <a:pPr>
              <a:spcBef>
                <a:spcPts val="800"/>
              </a:spcBef>
              <a:defRPr sz="1100">
                <a:solidFill>
                  <a:srgbClr val="0F172A"/>
                </a:solidFill>
              </a:defRPr>
            </a:pPr>
            <a:r>
              <a:t>• RESTful API communication over TLS/HTTPS</a:t>
            </a:r>
          </a:p>
          <a:p>
            <a:pPr>
              <a:spcBef>
                <a:spcPts val="800"/>
              </a:spcBef>
              <a:defRPr sz="1100">
                <a:solidFill>
                  <a:srgbClr val="0F172A"/>
                </a:solidFill>
              </a:defRPr>
            </a:pPr>
            <a:r>
              <a:t>• Automated database indexes for rapid queries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10 | </a:t>
            </a:r>
            <a:r>
              <a:rPr sz="2200" b="1">
                <a:solidFill>
                  <a:srgbClr val="002B49"/>
                </a:solidFill>
              </a:rPr>
              <a:t>UI/UX Design &amp; Key Mobile Screens</a:t>
            </a:r>
          </a:p>
          <a:p>
            <a:pPr>
              <a:defRPr sz="1100">
                <a:solidFill>
                  <a:srgbClr val="64748B"/>
                </a:solidFill>
              </a:defRPr>
            </a:pPr>
            <a:r>
              <a:t>Clean Ethiopian startup aesthetic with high visual contrast and intuitive layouts</a:t>
            </a:r>
          </a:p>
        </p:txBody>
      </p:sp>
      <p:sp>
        <p:nvSpPr>
          <p:cNvPr id="6" name="Rounded Rectangle 5"/>
          <p:cNvSpPr/>
          <p:nvPr/>
        </p:nvSpPr>
        <p:spPr>
          <a:xfrm>
            <a:off x="731520" y="1371600"/>
            <a:ext cx="25603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creen_home.png"/>
          <p:cNvPicPr>
            <a:picLocks noChangeAspect="1"/>
          </p:cNvPicPr>
          <p:nvPr/>
        </p:nvPicPr>
        <p:blipFill>
          <a:blip r:embed="rId4"/>
          <a:stretch>
            <a:fillRect/>
          </a:stretch>
        </p:blipFill>
        <p:spPr>
          <a:xfrm>
            <a:off x="1097280" y="1508760"/>
            <a:ext cx="1828800" cy="1028700"/>
          </a:xfrm>
          <a:prstGeom prst="rect">
            <a:avLst/>
          </a:prstGeom>
        </p:spPr>
      </p:pic>
      <p:sp>
        <p:nvSpPr>
          <p:cNvPr id="8" name="TextBox 7"/>
          <p:cNvSpPr txBox="1"/>
          <p:nvPr/>
        </p:nvSpPr>
        <p:spPr>
          <a:xfrm>
            <a:off x="868680" y="5166360"/>
            <a:ext cx="2286000" cy="1005840"/>
          </a:xfrm>
          <a:prstGeom prst="rect">
            <a:avLst/>
          </a:prstGeom>
          <a:noFill/>
        </p:spPr>
        <p:txBody>
          <a:bodyPr wrap="square">
            <a:spAutoFit/>
          </a:bodyPr>
          <a:lstStyle/>
          <a:p>
            <a:pPr>
              <a:defRPr sz="1100" b="1">
                <a:solidFill>
                  <a:srgbClr val="002B49"/>
                </a:solidFill>
              </a:defRPr>
            </a:pPr>
            <a:r>
              <a:t>Home &amp; Services</a:t>
            </a:r>
          </a:p>
          <a:p>
            <a:pPr>
              <a:spcBef>
                <a:spcPts val="200"/>
              </a:spcBef>
              <a:defRPr sz="900">
                <a:solidFill>
                  <a:srgbClr val="64748B"/>
                </a:solidFill>
              </a:defRPr>
            </a:pPr>
            <a:r>
              <a:t>Browse categories, view banner promotions, discover certified technicians.</a:t>
            </a:r>
          </a:p>
        </p:txBody>
      </p:sp>
      <p:sp>
        <p:nvSpPr>
          <p:cNvPr id="9" name="Rounded Rectangle 8"/>
          <p:cNvSpPr/>
          <p:nvPr/>
        </p:nvSpPr>
        <p:spPr>
          <a:xfrm>
            <a:off x="3429000" y="1371600"/>
            <a:ext cx="25603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_post.png"/>
          <p:cNvPicPr>
            <a:picLocks noChangeAspect="1"/>
          </p:cNvPicPr>
          <p:nvPr/>
        </p:nvPicPr>
        <p:blipFill>
          <a:blip r:embed="rId5"/>
          <a:stretch>
            <a:fillRect/>
          </a:stretch>
        </p:blipFill>
        <p:spPr>
          <a:xfrm>
            <a:off x="3794760" y="1508760"/>
            <a:ext cx="1828800" cy="4071068"/>
          </a:xfrm>
          <a:prstGeom prst="rect">
            <a:avLst/>
          </a:prstGeom>
        </p:spPr>
      </p:pic>
      <p:sp>
        <p:nvSpPr>
          <p:cNvPr id="11" name="TextBox 10"/>
          <p:cNvSpPr txBox="1"/>
          <p:nvPr/>
        </p:nvSpPr>
        <p:spPr>
          <a:xfrm>
            <a:off x="3566160" y="5166360"/>
            <a:ext cx="2286000" cy="1005840"/>
          </a:xfrm>
          <a:prstGeom prst="rect">
            <a:avLst/>
          </a:prstGeom>
          <a:noFill/>
        </p:spPr>
        <p:txBody>
          <a:bodyPr wrap="square">
            <a:spAutoFit/>
          </a:bodyPr>
          <a:lstStyle/>
          <a:p>
            <a:pPr>
              <a:defRPr sz="1100" b="1">
                <a:solidFill>
                  <a:srgbClr val="002B49"/>
                </a:solidFill>
              </a:defRPr>
            </a:pPr>
            <a:r>
              <a:t>Service Request Screen</a:t>
            </a:r>
          </a:p>
          <a:p>
            <a:pPr>
              <a:spcBef>
                <a:spcPts val="200"/>
              </a:spcBef>
              <a:defRPr sz="900">
                <a:solidFill>
                  <a:srgbClr val="64748B"/>
                </a:solidFill>
              </a:defRPr>
            </a:pPr>
            <a:r>
              <a:t>Input problem details, select urgency (Today/Emergency), attach photos.</a:t>
            </a:r>
          </a:p>
        </p:txBody>
      </p:sp>
      <p:sp>
        <p:nvSpPr>
          <p:cNvPr id="12" name="Rounded Rectangle 11"/>
          <p:cNvSpPr/>
          <p:nvPr/>
        </p:nvSpPr>
        <p:spPr>
          <a:xfrm>
            <a:off x="6126480" y="1371600"/>
            <a:ext cx="25603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creen_provider_detail.png"/>
          <p:cNvPicPr>
            <a:picLocks noChangeAspect="1"/>
          </p:cNvPicPr>
          <p:nvPr/>
        </p:nvPicPr>
        <p:blipFill>
          <a:blip r:embed="rId6"/>
          <a:stretch>
            <a:fillRect/>
          </a:stretch>
        </p:blipFill>
        <p:spPr>
          <a:xfrm>
            <a:off x="6492240" y="1508760"/>
            <a:ext cx="1828800" cy="1028700"/>
          </a:xfrm>
          <a:prstGeom prst="rect">
            <a:avLst/>
          </a:prstGeom>
        </p:spPr>
      </p:pic>
      <p:sp>
        <p:nvSpPr>
          <p:cNvPr id="14" name="TextBox 13"/>
          <p:cNvSpPr txBox="1"/>
          <p:nvPr/>
        </p:nvSpPr>
        <p:spPr>
          <a:xfrm>
            <a:off x="6263640" y="5166360"/>
            <a:ext cx="2286000" cy="1005840"/>
          </a:xfrm>
          <a:prstGeom prst="rect">
            <a:avLst/>
          </a:prstGeom>
          <a:noFill/>
        </p:spPr>
        <p:txBody>
          <a:bodyPr wrap="square">
            <a:spAutoFit/>
          </a:bodyPr>
          <a:lstStyle/>
          <a:p>
            <a:pPr>
              <a:defRPr sz="1100" b="1">
                <a:solidFill>
                  <a:srgbClr val="002B49"/>
                </a:solidFill>
              </a:defRPr>
            </a:pPr>
            <a:r>
              <a:t>Technician Profile</a:t>
            </a:r>
          </a:p>
          <a:p>
            <a:pPr>
              <a:spcBef>
                <a:spcPts val="200"/>
              </a:spcBef>
              <a:defRPr sz="900">
                <a:solidFill>
                  <a:srgbClr val="64748B"/>
                </a:solidFill>
              </a:defRPr>
            </a:pPr>
            <a:r>
              <a:t>View verified credentials, completed tasks, customer reviews, and direct hire.</a:t>
            </a:r>
          </a:p>
        </p:txBody>
      </p:sp>
      <p:sp>
        <p:nvSpPr>
          <p:cNvPr id="15" name="Rounded Rectangle 14"/>
          <p:cNvSpPr/>
          <p:nvPr/>
        </p:nvSpPr>
        <p:spPr>
          <a:xfrm>
            <a:off x="8823960" y="1371600"/>
            <a:ext cx="25603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creen_chat.png"/>
          <p:cNvPicPr>
            <a:picLocks noChangeAspect="1"/>
          </p:cNvPicPr>
          <p:nvPr/>
        </p:nvPicPr>
        <p:blipFill>
          <a:blip r:embed="rId7"/>
          <a:stretch>
            <a:fillRect/>
          </a:stretch>
        </p:blipFill>
        <p:spPr>
          <a:xfrm>
            <a:off x="9189720" y="1508760"/>
            <a:ext cx="1828800" cy="4071068"/>
          </a:xfrm>
          <a:prstGeom prst="rect">
            <a:avLst/>
          </a:prstGeom>
        </p:spPr>
      </p:pic>
      <p:sp>
        <p:nvSpPr>
          <p:cNvPr id="17" name="TextBox 16"/>
          <p:cNvSpPr txBox="1"/>
          <p:nvPr/>
        </p:nvSpPr>
        <p:spPr>
          <a:xfrm>
            <a:off x="8961120" y="5166360"/>
            <a:ext cx="2286000" cy="1005840"/>
          </a:xfrm>
          <a:prstGeom prst="rect">
            <a:avLst/>
          </a:prstGeom>
          <a:noFill/>
        </p:spPr>
        <p:txBody>
          <a:bodyPr wrap="square">
            <a:spAutoFit/>
          </a:bodyPr>
          <a:lstStyle/>
          <a:p>
            <a:pPr>
              <a:defRPr sz="1100" b="1">
                <a:solidFill>
                  <a:srgbClr val="002B49"/>
                </a:solidFill>
              </a:defRPr>
            </a:pPr>
            <a:r>
              <a:t>In-App Direct Chat</a:t>
            </a:r>
          </a:p>
          <a:p>
            <a:pPr>
              <a:spcBef>
                <a:spcPts val="200"/>
              </a:spcBef>
              <a:defRPr sz="900">
                <a:solidFill>
                  <a:srgbClr val="64748B"/>
                </a:solidFill>
              </a:defRPr>
            </a:pPr>
            <a:r>
              <a:t>Full-height conversation screen with online status, timestamps, and input dock.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11 | </a:t>
            </a:r>
            <a:r>
              <a:rPr sz="2200" b="1">
                <a:solidFill>
                  <a:srgbClr val="002B49"/>
                </a:solidFill>
              </a:rPr>
              <a:t>Database Design</a:t>
            </a:r>
          </a:p>
          <a:p>
            <a:pPr>
              <a:defRPr sz="1100">
                <a:solidFill>
                  <a:srgbClr val="64748B"/>
                </a:solidFill>
              </a:defRPr>
            </a:pPr>
            <a:r>
              <a:t>Core MongoDB collections, document schemas, and relational integrity</a:t>
            </a:r>
          </a:p>
        </p:txBody>
      </p:sp>
      <p:sp>
        <p:nvSpPr>
          <p:cNvPr id="6" name="Rounded Rectangle 5"/>
          <p:cNvSpPr/>
          <p:nvPr/>
        </p:nvSpPr>
        <p:spPr>
          <a:xfrm>
            <a:off x="73152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874519"/>
          </a:xfrm>
          <a:prstGeom prst="rect">
            <a:avLst/>
          </a:prstGeom>
          <a:noFill/>
        </p:spPr>
        <p:txBody>
          <a:bodyPr wrap="square">
            <a:spAutoFit/>
          </a:bodyPr>
          <a:lstStyle/>
          <a:p>
            <a:pPr>
              <a:defRPr sz="1500" b="1">
                <a:solidFill>
                  <a:srgbClr val="002B49"/>
                </a:solidFill>
              </a:defRPr>
            </a:pPr>
            <a:r>
              <a:t>👤  Users Collection</a:t>
            </a:r>
          </a:p>
          <a:p>
            <a:pPr>
              <a:spcBef>
                <a:spcPts val="400"/>
              </a:spcBef>
              <a:defRPr sz="1050">
                <a:solidFill>
                  <a:srgbClr val="0F172A"/>
                </a:solidFill>
              </a:defRPr>
            </a:pPr>
            <a:r>
              <a:t>• fullName, email, phone, role (customer/provider/admin)</a:t>
            </a:r>
          </a:p>
          <a:p>
            <a:pPr>
              <a:spcBef>
                <a:spcPts val="400"/>
              </a:spcBef>
              <a:defRPr sz="1050">
                <a:solidFill>
                  <a:srgbClr val="0F172A"/>
                </a:solidFill>
              </a:defRPr>
            </a:pPr>
            <a:r>
              <a:t>• password (bcrypt hashed), pushToken for alerts</a:t>
            </a:r>
          </a:p>
          <a:p>
            <a:pPr>
              <a:spcBef>
                <a:spcPts val="400"/>
              </a:spcBef>
              <a:defRPr sz="1050">
                <a:solidFill>
                  <a:srgbClr val="0F172A"/>
                </a:solidFill>
              </a:defRPr>
            </a:pPr>
            <a:r>
              <a:t>• connectsBalance, isAvailable (on/off duty)</a:t>
            </a:r>
          </a:p>
          <a:p>
            <a:pPr>
              <a:spcBef>
                <a:spcPts val="400"/>
              </a:spcBef>
              <a:defRPr sz="1050">
                <a:solidFill>
                  <a:srgbClr val="0F172A"/>
                </a:solidFill>
              </a:defRPr>
            </a:pPr>
            <a:r>
              <a:t>• avatarUrl, documents (ID &amp; trade certifications)</a:t>
            </a:r>
          </a:p>
        </p:txBody>
      </p:sp>
      <p:sp>
        <p:nvSpPr>
          <p:cNvPr id="8" name="Rounded Rectangle 7"/>
          <p:cNvSpPr/>
          <p:nvPr/>
        </p:nvSpPr>
        <p:spPr>
          <a:xfrm>
            <a:off x="617220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500" b="1">
                <a:solidFill>
                  <a:srgbClr val="002B49"/>
                </a:solidFill>
              </a:defRPr>
            </a:pPr>
            <a:r>
              <a:t>📋  Jobs Collection</a:t>
            </a:r>
          </a:p>
          <a:p>
            <a:pPr>
              <a:spcBef>
                <a:spcPts val="400"/>
              </a:spcBef>
              <a:defRPr sz="1050">
                <a:solidFill>
                  <a:srgbClr val="0F172A"/>
                </a:solidFill>
              </a:defRPr>
            </a:pPr>
            <a:r>
              <a:t>• title, category, description, subcity location</a:t>
            </a:r>
          </a:p>
          <a:p>
            <a:pPr>
              <a:spcBef>
                <a:spcPts val="400"/>
              </a:spcBef>
              <a:defRPr sz="1050">
                <a:solidFill>
                  <a:srgbClr val="0F172A"/>
                </a:solidFill>
              </a:defRPr>
            </a:pPr>
            <a:r>
              <a:t>• budget (ETB), urgency (Today / Emergency)</a:t>
            </a:r>
          </a:p>
          <a:p>
            <a:pPr>
              <a:spcBef>
                <a:spcPts val="400"/>
              </a:spcBef>
              <a:defRPr sz="1050">
                <a:solidFill>
                  <a:srgbClr val="0F172A"/>
                </a:solidFill>
              </a:defRPr>
            </a:pPr>
            <a:r>
              <a:t>• status (open, assigned, in-progress, completed)</a:t>
            </a:r>
          </a:p>
          <a:p>
            <a:pPr>
              <a:spcBef>
                <a:spcPts val="400"/>
              </a:spcBef>
              <a:defRPr sz="1050">
                <a:solidFill>
                  <a:srgbClr val="0F172A"/>
                </a:solidFill>
              </a:defRPr>
            </a:pPr>
            <a:r>
              <a:t>• photos array, customerId (Ref: User), technicianId</a:t>
            </a:r>
          </a:p>
        </p:txBody>
      </p:sp>
      <p:sp>
        <p:nvSpPr>
          <p:cNvPr id="10" name="Rounded Rectangle 9"/>
          <p:cNvSpPr/>
          <p:nvPr/>
        </p:nvSpPr>
        <p:spPr>
          <a:xfrm>
            <a:off x="73152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500" b="1">
                <a:solidFill>
                  <a:srgbClr val="002B49"/>
                </a:solidFill>
              </a:defRPr>
            </a:pPr>
            <a:r>
              <a:t>💼  Bids Collection</a:t>
            </a:r>
          </a:p>
          <a:p>
            <a:pPr>
              <a:spcBef>
                <a:spcPts val="400"/>
              </a:spcBef>
              <a:defRPr sz="1050">
                <a:solidFill>
                  <a:srgbClr val="0F172A"/>
                </a:solidFill>
              </a:defRPr>
            </a:pPr>
            <a:r>
              <a:t>• jobId (Ref: Job), providerId (Ref: User)</a:t>
            </a:r>
          </a:p>
          <a:p>
            <a:pPr>
              <a:spcBef>
                <a:spcPts val="400"/>
              </a:spcBef>
              <a:defRPr sz="1050">
                <a:solidFill>
                  <a:srgbClr val="0F172A"/>
                </a:solidFill>
              </a:defRPr>
            </a:pPr>
            <a:r>
              <a:t>• proposedPrice, estimatedDays, coverNote</a:t>
            </a:r>
          </a:p>
          <a:p>
            <a:pPr>
              <a:spcBef>
                <a:spcPts val="400"/>
              </a:spcBef>
              <a:defRPr sz="1050">
                <a:solidFill>
                  <a:srgbClr val="0F172A"/>
                </a:solidFill>
              </a:defRPr>
            </a:pPr>
            <a:r>
              <a:t>• status (pending, accepted, rejected)</a:t>
            </a:r>
          </a:p>
          <a:p>
            <a:pPr>
              <a:spcBef>
                <a:spcPts val="400"/>
              </a:spcBef>
              <a:defRPr sz="1050">
                <a:solidFill>
                  <a:srgbClr val="0F172A"/>
                </a:solidFill>
              </a:defRPr>
            </a:pPr>
            <a:r>
              <a:t>• timestamps (createdAt, updatedAt)</a:t>
            </a:r>
          </a:p>
        </p:txBody>
      </p:sp>
      <p:sp>
        <p:nvSpPr>
          <p:cNvPr id="12" name="Rounded Rectangle 11"/>
          <p:cNvSpPr/>
          <p:nvPr/>
        </p:nvSpPr>
        <p:spPr>
          <a:xfrm>
            <a:off x="617220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500" b="1">
                <a:solidFill>
                  <a:srgbClr val="002B49"/>
                </a:solidFill>
              </a:defRPr>
            </a:pPr>
            <a:r>
              <a:t>💬  Messages &amp; Notifications</a:t>
            </a:r>
          </a:p>
          <a:p>
            <a:pPr>
              <a:spcBef>
                <a:spcPts val="400"/>
              </a:spcBef>
              <a:defRPr sz="1050">
                <a:solidFill>
                  <a:srgbClr val="0F172A"/>
                </a:solidFill>
              </a:defRPr>
            </a:pPr>
            <a:r>
              <a:t>• senderId, receiverId, jobId, text content</a:t>
            </a:r>
          </a:p>
          <a:p>
            <a:pPr>
              <a:spcBef>
                <a:spcPts val="400"/>
              </a:spcBef>
              <a:defRPr sz="1050">
                <a:solidFill>
                  <a:srgbClr val="0F172A"/>
                </a:solidFill>
              </a:defRPr>
            </a:pPr>
            <a:r>
              <a:t>• isRead flag, timestamps for socket delivery</a:t>
            </a:r>
          </a:p>
          <a:p>
            <a:pPr>
              <a:spcBef>
                <a:spcPts val="400"/>
              </a:spcBef>
              <a:defRPr sz="1050">
                <a:solidFill>
                  <a:srgbClr val="0F172A"/>
                </a:solidFill>
              </a:defRPr>
            </a:pPr>
            <a:r>
              <a:t>• Notifications: recipient, title, body, type, isRead</a:t>
            </a:r>
          </a:p>
          <a:p>
            <a:pPr>
              <a:spcBef>
                <a:spcPts val="400"/>
              </a:spcBef>
              <a:defRPr sz="1050">
                <a:solidFill>
                  <a:srgbClr val="0F172A"/>
                </a:solidFill>
              </a:defRPr>
            </a:pPr>
            <a:r>
              <a:t>• Fast indexes on (userId, createdAt, jobId)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12 | </a:t>
            </a:r>
            <a:r>
              <a:rPr sz="2200" b="1">
                <a:solidFill>
                  <a:srgbClr val="002B49"/>
                </a:solidFill>
              </a:rPr>
              <a:t>Implementation &amp; Technologies Used</a:t>
            </a:r>
          </a:p>
          <a:p>
            <a:pPr>
              <a:defRPr sz="1100">
                <a:solidFill>
                  <a:srgbClr val="64748B"/>
                </a:solidFill>
              </a:defRPr>
            </a:pPr>
            <a:r>
              <a:t>Production technology stack powering the Bete platform</a:t>
            </a:r>
          </a:p>
        </p:txBody>
      </p:sp>
      <p:sp>
        <p:nvSpPr>
          <p:cNvPr id="6" name="Rounded Rectangle 5"/>
          <p:cNvSpPr/>
          <p:nvPr/>
        </p:nvSpPr>
        <p:spPr>
          <a:xfrm>
            <a:off x="731520" y="1371600"/>
            <a:ext cx="3429000" cy="484632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45920"/>
            <a:ext cx="2971800" cy="4297680"/>
          </a:xfrm>
          <a:prstGeom prst="rect">
            <a:avLst/>
          </a:prstGeom>
          <a:noFill/>
        </p:spPr>
        <p:txBody>
          <a:bodyPr wrap="square">
            <a:spAutoFit/>
          </a:bodyPr>
          <a:lstStyle/>
          <a:p>
            <a:pPr>
              <a:defRPr sz="1600" b="1">
                <a:solidFill>
                  <a:srgbClr val="002B49"/>
                </a:solidFill>
              </a:defRPr>
            </a:pPr>
            <a:r>
              <a:t>📱  Frontend / Mobile</a:t>
            </a:r>
          </a:p>
          <a:p>
            <a:pPr>
              <a:spcBef>
                <a:spcPts val="800"/>
              </a:spcBef>
              <a:defRPr sz="1100">
                <a:solidFill>
                  <a:srgbClr val="0F172A"/>
                </a:solidFill>
              </a:defRPr>
            </a:pPr>
            <a:r>
              <a:t>• React Native 0.76+ &amp; Expo SDK 54</a:t>
            </a:r>
          </a:p>
          <a:p>
            <a:pPr>
              <a:spcBef>
                <a:spcPts val="800"/>
              </a:spcBef>
              <a:defRPr sz="1100">
                <a:solidFill>
                  <a:srgbClr val="0F172A"/>
                </a:solidFill>
              </a:defRPr>
            </a:pPr>
            <a:r>
              <a:t>• TypeScript for robust static typing</a:t>
            </a:r>
          </a:p>
          <a:p>
            <a:pPr>
              <a:spcBef>
                <a:spcPts val="800"/>
              </a:spcBef>
              <a:defRPr sz="1100">
                <a:solidFill>
                  <a:srgbClr val="0F172A"/>
                </a:solidFill>
              </a:defRPr>
            </a:pPr>
            <a:r>
              <a:t>• Expo Router for modern file-based routing</a:t>
            </a:r>
          </a:p>
          <a:p>
            <a:pPr>
              <a:spcBef>
                <a:spcPts val="800"/>
              </a:spcBef>
              <a:defRPr sz="1100">
                <a:solidFill>
                  <a:srgbClr val="0F172A"/>
                </a:solidFill>
              </a:defRPr>
            </a:pPr>
            <a:r>
              <a:t>• React Native Reanimated for smooth UI animations</a:t>
            </a:r>
          </a:p>
          <a:p>
            <a:pPr>
              <a:spcBef>
                <a:spcPts val="800"/>
              </a:spcBef>
              <a:defRPr sz="1100">
                <a:solidFill>
                  <a:srgbClr val="0F172A"/>
                </a:solidFill>
              </a:defRPr>
            </a:pPr>
            <a:r>
              <a:t>• Expo SecureStore &amp; ImagePicker</a:t>
            </a:r>
          </a:p>
        </p:txBody>
      </p:sp>
      <p:sp>
        <p:nvSpPr>
          <p:cNvPr id="8" name="Rounded Rectangle 7"/>
          <p:cNvSpPr/>
          <p:nvPr/>
        </p:nvSpPr>
        <p:spPr>
          <a:xfrm>
            <a:off x="4343400" y="1371600"/>
            <a:ext cx="3429000" cy="48463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45920"/>
            <a:ext cx="2971800" cy="4297680"/>
          </a:xfrm>
          <a:prstGeom prst="rect">
            <a:avLst/>
          </a:prstGeom>
          <a:noFill/>
        </p:spPr>
        <p:txBody>
          <a:bodyPr wrap="square">
            <a:spAutoFit/>
          </a:bodyPr>
          <a:lstStyle/>
          <a:p>
            <a:pPr>
              <a:defRPr sz="1600" b="1">
                <a:solidFill>
                  <a:srgbClr val="002B49"/>
                </a:solidFill>
              </a:defRPr>
            </a:pPr>
            <a:r>
              <a:t>⚙️  Backend &amp; APIs</a:t>
            </a:r>
          </a:p>
          <a:p>
            <a:pPr>
              <a:spcBef>
                <a:spcPts val="800"/>
              </a:spcBef>
              <a:defRPr sz="1100">
                <a:solidFill>
                  <a:srgbClr val="0F172A"/>
                </a:solidFill>
              </a:defRPr>
            </a:pPr>
            <a:r>
              <a:t>• Node.js runtime environment</a:t>
            </a:r>
          </a:p>
          <a:p>
            <a:pPr>
              <a:spcBef>
                <a:spcPts val="800"/>
              </a:spcBef>
              <a:defRPr sz="1100">
                <a:solidFill>
                  <a:srgbClr val="0F172A"/>
                </a:solidFill>
              </a:defRPr>
            </a:pPr>
            <a:r>
              <a:t>• Express.js REST API framework</a:t>
            </a:r>
          </a:p>
          <a:p>
            <a:pPr>
              <a:spcBef>
                <a:spcPts val="800"/>
              </a:spcBef>
              <a:defRPr sz="1100">
                <a:solidFill>
                  <a:srgbClr val="0F172A"/>
                </a:solidFill>
              </a:defRPr>
            </a:pPr>
            <a:r>
              <a:t>• Socket.io for low-latency WebSocket messaging</a:t>
            </a:r>
          </a:p>
          <a:p>
            <a:pPr>
              <a:spcBef>
                <a:spcPts val="800"/>
              </a:spcBef>
              <a:defRPr sz="1100">
                <a:solidFill>
                  <a:srgbClr val="0F172A"/>
                </a:solidFill>
              </a:defRPr>
            </a:pPr>
            <a:r>
              <a:t>• Multer for multipart form &amp; file handling</a:t>
            </a:r>
          </a:p>
          <a:p>
            <a:pPr>
              <a:spcBef>
                <a:spcPts val="800"/>
              </a:spcBef>
              <a:defRPr sz="1100">
                <a:solidFill>
                  <a:srgbClr val="0F172A"/>
                </a:solidFill>
              </a:defRPr>
            </a:pPr>
            <a:r>
              <a:t>• JSON Web Tokens (JWT) &amp; bcrypt.js</a:t>
            </a:r>
          </a:p>
        </p:txBody>
      </p:sp>
      <p:sp>
        <p:nvSpPr>
          <p:cNvPr id="10" name="Rounded Rectangle 9"/>
          <p:cNvSpPr/>
          <p:nvPr/>
        </p:nvSpPr>
        <p:spPr>
          <a:xfrm>
            <a:off x="7955280" y="1371600"/>
            <a:ext cx="3429000" cy="4846320"/>
          </a:xfrm>
          <a:prstGeom prst="roundRect">
            <a:avLst/>
          </a:prstGeom>
          <a:solidFill>
            <a:srgbClr val="FFFFFF"/>
          </a:solidFill>
          <a:ln>
            <a:solidFill>
              <a:srgbClr val="00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2971800" cy="4297680"/>
          </a:xfrm>
          <a:prstGeom prst="rect">
            <a:avLst/>
          </a:prstGeom>
          <a:noFill/>
        </p:spPr>
        <p:txBody>
          <a:bodyPr wrap="square">
            <a:spAutoFit/>
          </a:bodyPr>
          <a:lstStyle/>
          <a:p>
            <a:pPr>
              <a:defRPr sz="1600" b="1">
                <a:solidFill>
                  <a:srgbClr val="002B49"/>
                </a:solidFill>
              </a:defRPr>
            </a:pPr>
            <a:r>
              <a:t>☁️  Database &amp; DevOps</a:t>
            </a:r>
          </a:p>
          <a:p>
            <a:pPr>
              <a:spcBef>
                <a:spcPts val="800"/>
              </a:spcBef>
              <a:defRPr sz="1100">
                <a:solidFill>
                  <a:srgbClr val="0F172A"/>
                </a:solidFill>
              </a:defRPr>
            </a:pPr>
            <a:r>
              <a:t>• MongoDB Atlas (cloud database)</a:t>
            </a:r>
          </a:p>
          <a:p>
            <a:pPr>
              <a:spcBef>
                <a:spcPts val="800"/>
              </a:spcBef>
              <a:defRPr sz="1100">
                <a:solidFill>
                  <a:srgbClr val="0F172A"/>
                </a:solidFill>
              </a:defRPr>
            </a:pPr>
            <a:r>
              <a:t>• Mongoose ODM schema validation</a:t>
            </a:r>
          </a:p>
          <a:p>
            <a:pPr>
              <a:spcBef>
                <a:spcPts val="800"/>
              </a:spcBef>
              <a:defRPr sz="1100">
                <a:solidFill>
                  <a:srgbClr val="0F172A"/>
                </a:solidFill>
              </a:defRPr>
            </a:pPr>
            <a:r>
              <a:t>• Expo Application Services (EAS Build) for APK</a:t>
            </a:r>
          </a:p>
          <a:p>
            <a:pPr>
              <a:spcBef>
                <a:spcPts val="800"/>
              </a:spcBef>
              <a:defRPr sz="1100">
                <a:solidFill>
                  <a:srgbClr val="0F172A"/>
                </a:solidFill>
              </a:defRPr>
            </a:pPr>
            <a:r>
              <a:t>• Render Cloud Platform (backend hosting)</a:t>
            </a:r>
          </a:p>
          <a:p>
            <a:pPr>
              <a:spcBef>
                <a:spcPts val="800"/>
              </a:spcBef>
              <a:defRPr sz="1100">
                <a:solidFill>
                  <a:srgbClr val="0F172A"/>
                </a:solidFill>
              </a:defRPr>
            </a:pPr>
            <a:r>
              <a:t>• Git &amp; GitHub for version control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13 | </a:t>
            </a:r>
            <a:r>
              <a:rPr sz="2200" b="1">
                <a:solidFill>
                  <a:srgbClr val="002B49"/>
                </a:solidFill>
              </a:rPr>
              <a:t>Security &amp; Role-Based Access Control (RBAC)</a:t>
            </a:r>
          </a:p>
          <a:p>
            <a:pPr>
              <a:defRPr sz="1100">
                <a:solidFill>
                  <a:srgbClr val="64748B"/>
                </a:solidFill>
              </a:defRPr>
            </a:pPr>
            <a:r>
              <a:t>Multi-layered defensive architecture protecting user identity, privacy, and data</a:t>
            </a:r>
          </a:p>
        </p:txBody>
      </p:sp>
      <p:sp>
        <p:nvSpPr>
          <p:cNvPr id="6" name="Rounded Rectangle 5"/>
          <p:cNvSpPr/>
          <p:nvPr/>
        </p:nvSpPr>
        <p:spPr>
          <a:xfrm>
            <a:off x="73152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874519"/>
          </a:xfrm>
          <a:prstGeom prst="rect">
            <a:avLst/>
          </a:prstGeom>
          <a:noFill/>
        </p:spPr>
        <p:txBody>
          <a:bodyPr wrap="square">
            <a:spAutoFit/>
          </a:bodyPr>
          <a:lstStyle/>
          <a:p>
            <a:pPr>
              <a:defRPr sz="1500" b="1">
                <a:solidFill>
                  <a:srgbClr val="002B49"/>
                </a:solidFill>
              </a:defRPr>
            </a:pPr>
            <a:r>
              <a:t>🔐  Authentication &amp; Passwords</a:t>
            </a:r>
          </a:p>
          <a:p>
            <a:pPr>
              <a:spcBef>
                <a:spcPts val="400"/>
              </a:spcBef>
              <a:defRPr sz="1050">
                <a:solidFill>
                  <a:srgbClr val="0F172A"/>
                </a:solidFill>
              </a:defRPr>
            </a:pPr>
            <a:r>
              <a:t>• Industry-standard bcrypt hashing with 10 salt rounds</a:t>
            </a:r>
          </a:p>
          <a:p>
            <a:pPr>
              <a:spcBef>
                <a:spcPts val="400"/>
              </a:spcBef>
              <a:defRPr sz="1050">
                <a:solidFill>
                  <a:srgbClr val="0F172A"/>
                </a:solidFill>
              </a:defRPr>
            </a:pPr>
            <a:r>
              <a:t>• Stateless JWT token authentication with configurable expiry</a:t>
            </a:r>
          </a:p>
          <a:p>
            <a:pPr>
              <a:spcBef>
                <a:spcPts val="400"/>
              </a:spcBef>
              <a:defRPr sz="1050">
                <a:solidFill>
                  <a:srgbClr val="0F172A"/>
                </a:solidFill>
              </a:defRPr>
            </a:pPr>
            <a:r>
              <a:t>• Hardware-encrypted local token storage via Expo SecureStore</a:t>
            </a:r>
          </a:p>
          <a:p>
            <a:pPr>
              <a:spcBef>
                <a:spcPts val="400"/>
              </a:spcBef>
              <a:defRPr sz="1050">
                <a:solidFill>
                  <a:srgbClr val="0F172A"/>
                </a:solidFill>
              </a:defRPr>
            </a:pPr>
            <a:r>
              <a:t>• Route guards preventing unauthorized API access</a:t>
            </a:r>
          </a:p>
        </p:txBody>
      </p:sp>
      <p:sp>
        <p:nvSpPr>
          <p:cNvPr id="8" name="Rounded Rectangle 7"/>
          <p:cNvSpPr/>
          <p:nvPr/>
        </p:nvSpPr>
        <p:spPr>
          <a:xfrm>
            <a:off x="617220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500" b="1">
                <a:solidFill>
                  <a:srgbClr val="002B49"/>
                </a:solidFill>
              </a:defRPr>
            </a:pPr>
            <a:r>
              <a:t>🛡️  Role-Based Access (RBAC)</a:t>
            </a:r>
          </a:p>
          <a:p>
            <a:pPr>
              <a:spcBef>
                <a:spcPts val="400"/>
              </a:spcBef>
              <a:defRPr sz="1050">
                <a:solidFill>
                  <a:srgbClr val="0F172A"/>
                </a:solidFill>
              </a:defRPr>
            </a:pPr>
            <a:r>
              <a:t>• Service Seeker: Can post jobs, view bids, accept quotes, review pros</a:t>
            </a:r>
          </a:p>
          <a:p>
            <a:pPr>
              <a:spcBef>
                <a:spcPts val="400"/>
              </a:spcBef>
              <a:defRPr sz="1050">
                <a:solidFill>
                  <a:srgbClr val="0F172A"/>
                </a:solidFill>
              </a:defRPr>
            </a:pPr>
            <a:r>
              <a:t>• Service Provider: Can view job broadcasts, submit bids, update duty status</a:t>
            </a:r>
          </a:p>
          <a:p>
            <a:pPr>
              <a:spcBef>
                <a:spcPts val="400"/>
              </a:spcBef>
              <a:defRPr sz="1050">
                <a:solidFill>
                  <a:srgbClr val="0F172A"/>
                </a:solidFill>
              </a:defRPr>
            </a:pPr>
            <a:r>
              <a:t>• Admin: System-wide oversight, user verification, compliance enforcement</a:t>
            </a:r>
          </a:p>
          <a:p>
            <a:pPr>
              <a:spcBef>
                <a:spcPts val="400"/>
              </a:spcBef>
              <a:defRPr sz="1050">
                <a:solidFill>
                  <a:srgbClr val="0F172A"/>
                </a:solidFill>
              </a:defRPr>
            </a:pPr>
            <a:r>
              <a:t>• Separate mobile navigation stacks preventing role crossover</a:t>
            </a:r>
          </a:p>
        </p:txBody>
      </p:sp>
      <p:sp>
        <p:nvSpPr>
          <p:cNvPr id="10" name="Rounded Rectangle 9"/>
          <p:cNvSpPr/>
          <p:nvPr/>
        </p:nvSpPr>
        <p:spPr>
          <a:xfrm>
            <a:off x="73152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500" b="1">
                <a:solidFill>
                  <a:srgbClr val="002B49"/>
                </a:solidFill>
              </a:defRPr>
            </a:pPr>
            <a:r>
              <a:t>🔒  Data Protection &amp; Privacy</a:t>
            </a:r>
          </a:p>
          <a:p>
            <a:pPr>
              <a:spcBef>
                <a:spcPts val="400"/>
              </a:spcBef>
              <a:defRPr sz="1050">
                <a:solidFill>
                  <a:srgbClr val="0F172A"/>
                </a:solidFill>
              </a:defRPr>
            </a:pPr>
            <a:r>
              <a:t>• Sensitive user credentials excluded from API responses (password omitted)</a:t>
            </a:r>
          </a:p>
          <a:p>
            <a:pPr>
              <a:spcBef>
                <a:spcPts val="400"/>
              </a:spcBef>
              <a:defRPr sz="1050">
                <a:solidFill>
                  <a:srgbClr val="0F172A"/>
                </a:solidFill>
              </a:defRPr>
            </a:pPr>
            <a:r>
              <a:t>• Input validation and sanitization on all endpoints to prevent NoSQL injection</a:t>
            </a:r>
          </a:p>
          <a:p>
            <a:pPr>
              <a:spcBef>
                <a:spcPts val="400"/>
              </a:spcBef>
              <a:defRPr sz="1050">
                <a:solidFill>
                  <a:srgbClr val="0F172A"/>
                </a:solidFill>
              </a:defRPr>
            </a:pPr>
            <a:r>
              <a:t>• TLS/HTTPS encrypted network traffic in transit</a:t>
            </a:r>
          </a:p>
          <a:p>
            <a:pPr>
              <a:spcBef>
                <a:spcPts val="400"/>
              </a:spcBef>
              <a:defRPr sz="1050">
                <a:solidFill>
                  <a:srgbClr val="0F172A"/>
                </a:solidFill>
              </a:defRPr>
            </a:pPr>
            <a:r>
              <a:t>• Safe multipart file validation checking MIME types &amp; sizes</a:t>
            </a:r>
          </a:p>
        </p:txBody>
      </p:sp>
      <p:sp>
        <p:nvSpPr>
          <p:cNvPr id="12" name="Rounded Rectangle 11"/>
          <p:cNvSpPr/>
          <p:nvPr/>
        </p:nvSpPr>
        <p:spPr>
          <a:xfrm>
            <a:off x="617220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500" b="1">
                <a:solidFill>
                  <a:srgbClr val="002B49"/>
                </a:solidFill>
              </a:defRPr>
            </a:pPr>
            <a:r>
              <a:t>⚡  Anti-Spam Virtual Connects</a:t>
            </a:r>
          </a:p>
          <a:p>
            <a:pPr>
              <a:spcBef>
                <a:spcPts val="400"/>
              </a:spcBef>
              <a:defRPr sz="1050">
                <a:solidFill>
                  <a:srgbClr val="0F172A"/>
                </a:solidFill>
              </a:defRPr>
            </a:pPr>
            <a:r>
              <a:t>• Virtual connects mechanism limits proposal and posting spam</a:t>
            </a:r>
          </a:p>
          <a:p>
            <a:pPr>
              <a:spcBef>
                <a:spcPts val="400"/>
              </a:spcBef>
              <a:defRPr sz="1050">
                <a:solidFill>
                  <a:srgbClr val="0F172A"/>
                </a:solidFill>
              </a:defRPr>
            </a:pPr>
            <a:r>
              <a:t>• Emergency requests deduct additional connects (+5) for priority queuing</a:t>
            </a:r>
          </a:p>
          <a:p>
            <a:pPr>
              <a:spcBef>
                <a:spcPts val="400"/>
              </a:spcBef>
              <a:defRPr sz="1050">
                <a:solidFill>
                  <a:srgbClr val="0F172A"/>
                </a:solidFill>
              </a:defRPr>
            </a:pPr>
            <a:r>
              <a:t>• Account activity monitoring to prevent fraudulent reviews</a:t>
            </a:r>
          </a:p>
          <a:p>
            <a:pPr>
              <a:spcBef>
                <a:spcPts val="400"/>
              </a:spcBef>
              <a:defRPr sz="1050">
                <a:solidFill>
                  <a:srgbClr val="0F172A"/>
                </a:solidFill>
              </a:defRPr>
            </a:pPr>
            <a:r>
              <a:t>• Secure balance deduction before task broadcast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14 | </a:t>
            </a:r>
            <a:r>
              <a:rPr sz="2200" b="1">
                <a:solidFill>
                  <a:srgbClr val="002B49"/>
                </a:solidFill>
              </a:rPr>
              <a:t>Testing &amp; Quality Assurance</a:t>
            </a:r>
          </a:p>
          <a:p>
            <a:pPr>
              <a:defRPr sz="1100">
                <a:solidFill>
                  <a:srgbClr val="64748B"/>
                </a:solidFill>
              </a:defRPr>
            </a:pPr>
            <a:r>
              <a:t>Comprehensive verification across functionality, UI/UX, APIs, and physical devices</a:t>
            </a:r>
          </a:p>
        </p:txBody>
      </p:sp>
      <p:sp>
        <p:nvSpPr>
          <p:cNvPr id="6" name="Rounded Rectangle 5"/>
          <p:cNvSpPr/>
          <p:nvPr/>
        </p:nvSpPr>
        <p:spPr>
          <a:xfrm>
            <a:off x="731520" y="137160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874519"/>
          </a:xfrm>
          <a:prstGeom prst="rect">
            <a:avLst/>
          </a:prstGeom>
          <a:noFill/>
        </p:spPr>
        <p:txBody>
          <a:bodyPr wrap="square">
            <a:spAutoFit/>
          </a:bodyPr>
          <a:lstStyle/>
          <a:p>
            <a:pPr>
              <a:defRPr sz="1500" b="1">
                <a:solidFill>
                  <a:srgbClr val="002B49"/>
                </a:solidFill>
              </a:defRPr>
            </a:pPr>
            <a:r>
              <a:t>🧪  Functional Testing</a:t>
            </a:r>
          </a:p>
          <a:p>
            <a:pPr>
              <a:spcBef>
                <a:spcPts val="400"/>
              </a:spcBef>
              <a:defRPr sz="1050">
                <a:solidFill>
                  <a:srgbClr val="0F172A"/>
                </a:solidFill>
              </a:defRPr>
            </a:pPr>
            <a:r>
              <a:t>• Verified end-to-end user registration and role assignment</a:t>
            </a:r>
          </a:p>
          <a:p>
            <a:pPr>
              <a:spcBef>
                <a:spcPts val="400"/>
              </a:spcBef>
              <a:defRPr sz="1050">
                <a:solidFill>
                  <a:srgbClr val="0F172A"/>
                </a:solidFill>
              </a:defRPr>
            </a:pPr>
            <a:r>
              <a:t>• Tested job broadcasting, proposal submission, and acceptance</a:t>
            </a:r>
          </a:p>
          <a:p>
            <a:pPr>
              <a:spcBef>
                <a:spcPts val="400"/>
              </a:spcBef>
              <a:defRPr sz="1050">
                <a:solidFill>
                  <a:srgbClr val="0F172A"/>
                </a:solidFill>
              </a:defRPr>
            </a:pPr>
            <a:r>
              <a:t>• Validated connects deduction and wallet balance updates</a:t>
            </a:r>
          </a:p>
          <a:p>
            <a:pPr>
              <a:spcBef>
                <a:spcPts val="400"/>
              </a:spcBef>
              <a:defRPr sz="1050">
                <a:solidFill>
                  <a:srgbClr val="0F172A"/>
                </a:solidFill>
              </a:defRPr>
            </a:pPr>
            <a:r>
              <a:t>• Verified rating submission upon order completion</a:t>
            </a:r>
          </a:p>
        </p:txBody>
      </p:sp>
      <p:sp>
        <p:nvSpPr>
          <p:cNvPr id="8" name="Rounded Rectangle 7"/>
          <p:cNvSpPr/>
          <p:nvPr/>
        </p:nvSpPr>
        <p:spPr>
          <a:xfrm>
            <a:off x="6172200" y="137160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500" b="1">
                <a:solidFill>
                  <a:srgbClr val="002B49"/>
                </a:solidFill>
              </a:defRPr>
            </a:pPr>
            <a:r>
              <a:t>📱  UI / UX Testing</a:t>
            </a:r>
          </a:p>
          <a:p>
            <a:pPr>
              <a:spcBef>
                <a:spcPts val="400"/>
              </a:spcBef>
              <a:defRPr sz="1050">
                <a:solidFill>
                  <a:srgbClr val="0F172A"/>
                </a:solidFill>
              </a:defRPr>
            </a:pPr>
            <a:r>
              <a:t>• Screen responsiveness tested across different Android screen densities</a:t>
            </a:r>
          </a:p>
          <a:p>
            <a:pPr>
              <a:spcBef>
                <a:spcPts val="400"/>
              </a:spcBef>
              <a:defRPr sz="1050">
                <a:solidFill>
                  <a:srgbClr val="0F172A"/>
                </a:solidFill>
              </a:defRPr>
            </a:pPr>
            <a:r>
              <a:t>• Verified keyboard avoidance and smooth message scrolling</a:t>
            </a:r>
          </a:p>
          <a:p>
            <a:pPr>
              <a:spcBef>
                <a:spcPts val="400"/>
              </a:spcBef>
              <a:defRPr sz="1050">
                <a:solidFill>
                  <a:srgbClr val="0F172A"/>
                </a:solidFill>
              </a:defRPr>
            </a:pPr>
            <a:r>
              <a:t>• Tested dynamic tab bar hiding during active chat conversations</a:t>
            </a:r>
          </a:p>
          <a:p>
            <a:pPr>
              <a:spcBef>
                <a:spcPts val="400"/>
              </a:spcBef>
              <a:defRPr sz="1050">
                <a:solidFill>
                  <a:srgbClr val="0F172A"/>
                </a:solidFill>
              </a:defRPr>
            </a:pPr>
            <a:r>
              <a:t>• Verified Amharic and English typography rendering</a:t>
            </a:r>
          </a:p>
        </p:txBody>
      </p:sp>
      <p:sp>
        <p:nvSpPr>
          <p:cNvPr id="10" name="Rounded Rectangle 9"/>
          <p:cNvSpPr/>
          <p:nvPr/>
        </p:nvSpPr>
        <p:spPr>
          <a:xfrm>
            <a:off x="731520" y="384048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500" b="1">
                <a:solidFill>
                  <a:srgbClr val="002B49"/>
                </a:solidFill>
              </a:defRPr>
            </a:pPr>
            <a:r>
              <a:t>⚡  API &amp; Integration Testing</a:t>
            </a:r>
          </a:p>
          <a:p>
            <a:pPr>
              <a:spcBef>
                <a:spcPts val="400"/>
              </a:spcBef>
              <a:defRPr sz="1050">
                <a:solidFill>
                  <a:srgbClr val="0F172A"/>
                </a:solidFill>
              </a:defRPr>
            </a:pPr>
            <a:r>
              <a:t>• Tested REST endpoints via Postman with edge cases</a:t>
            </a:r>
          </a:p>
          <a:p>
            <a:pPr>
              <a:spcBef>
                <a:spcPts val="400"/>
              </a:spcBef>
              <a:defRPr sz="1050">
                <a:solidFill>
                  <a:srgbClr val="0F172A"/>
                </a:solidFill>
              </a:defRPr>
            </a:pPr>
            <a:r>
              <a:t>• Validated JWT token expiration and route protection</a:t>
            </a:r>
          </a:p>
          <a:p>
            <a:pPr>
              <a:spcBef>
                <a:spcPts val="400"/>
              </a:spcBef>
              <a:defRPr sz="1050">
                <a:solidFill>
                  <a:srgbClr val="0F172A"/>
                </a:solidFill>
              </a:defRPr>
            </a:pPr>
            <a:r>
              <a:t>• Verified Socket.io connection stability and room join logic</a:t>
            </a:r>
          </a:p>
          <a:p>
            <a:pPr>
              <a:spcBef>
                <a:spcPts val="400"/>
              </a:spcBef>
              <a:defRPr sz="1050">
                <a:solidFill>
                  <a:srgbClr val="0F172A"/>
                </a:solidFill>
              </a:defRPr>
            </a:pPr>
            <a:r>
              <a:t>• Tested multipart image upload limits and error handling</a:t>
            </a:r>
          </a:p>
        </p:txBody>
      </p:sp>
      <p:sp>
        <p:nvSpPr>
          <p:cNvPr id="12" name="Rounded Rectangle 11"/>
          <p:cNvSpPr/>
          <p:nvPr/>
        </p:nvSpPr>
        <p:spPr>
          <a:xfrm>
            <a:off x="6172200" y="384048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500" b="1">
                <a:solidFill>
                  <a:srgbClr val="002B49"/>
                </a:solidFill>
              </a:defRPr>
            </a:pPr>
            <a:r>
              <a:t>📲  Physical Device Testing</a:t>
            </a:r>
          </a:p>
          <a:p>
            <a:pPr>
              <a:spcBef>
                <a:spcPts val="400"/>
              </a:spcBef>
              <a:defRPr sz="1050">
                <a:solidFill>
                  <a:srgbClr val="0F172A"/>
                </a:solidFill>
              </a:defRPr>
            </a:pPr>
            <a:r>
              <a:t>• Tested live in Expo Go on real Android smartphone</a:t>
            </a:r>
          </a:p>
          <a:p>
            <a:pPr>
              <a:spcBef>
                <a:spcPts val="400"/>
              </a:spcBef>
              <a:defRPr sz="1050">
                <a:solidFill>
                  <a:srgbClr val="0F172A"/>
                </a:solidFill>
              </a:defRPr>
            </a:pPr>
            <a:r>
              <a:t>• Built and installed standalone APK (com.bete.app)</a:t>
            </a:r>
          </a:p>
          <a:p>
            <a:pPr>
              <a:spcBef>
                <a:spcPts val="400"/>
              </a:spcBef>
              <a:defRPr sz="1050">
                <a:solidFill>
                  <a:srgbClr val="0F172A"/>
                </a:solidFill>
              </a:defRPr>
            </a:pPr>
            <a:r>
              <a:t>• Validated Expo Push Notifications receiving remote banners</a:t>
            </a:r>
          </a:p>
          <a:p>
            <a:pPr>
              <a:spcBef>
                <a:spcPts val="400"/>
              </a:spcBef>
              <a:defRPr sz="1050">
                <a:solidFill>
                  <a:srgbClr val="0F172A"/>
                </a:solidFill>
              </a:defRPr>
            </a:pPr>
            <a:r>
              <a:t>• Tested offline handling and network error recovery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15 | </a:t>
            </a:r>
            <a:r>
              <a:rPr sz="2200" b="1">
                <a:solidFill>
                  <a:srgbClr val="002B49"/>
                </a:solidFill>
              </a:rPr>
              <a:t>Results &amp; Working Application</a:t>
            </a:r>
          </a:p>
          <a:p>
            <a:pPr>
              <a:defRPr sz="1100">
                <a:solidFill>
                  <a:srgbClr val="64748B"/>
                </a:solidFill>
              </a:defRPr>
            </a:pPr>
            <a:r>
              <a:t>Tangible achievements and screenshots of the functional deployed system</a:t>
            </a:r>
          </a:p>
        </p:txBody>
      </p:sp>
      <p:sp>
        <p:nvSpPr>
          <p:cNvPr id="6" name="Rounded Rectangle 5"/>
          <p:cNvSpPr/>
          <p:nvPr/>
        </p:nvSpPr>
        <p:spPr>
          <a:xfrm>
            <a:off x="731520" y="1280160"/>
            <a:ext cx="10728655" cy="777240"/>
          </a:xfrm>
          <a:prstGeom prst="roundRect">
            <a:avLst/>
          </a:prstGeom>
          <a:solidFill>
            <a:srgbClr val="EEF2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10362895" cy="685800"/>
          </a:xfrm>
          <a:prstGeom prst="rect">
            <a:avLst/>
          </a:prstGeom>
          <a:noFill/>
        </p:spPr>
        <p:txBody>
          <a:bodyPr wrap="square">
            <a:spAutoFit/>
          </a:bodyPr>
          <a:lstStyle/>
          <a:p>
            <a:pPr>
              <a:defRPr sz="1200" b="1">
                <a:solidFill>
                  <a:srgbClr val="0052CC"/>
                </a:solidFill>
              </a:defRPr>
            </a:pPr>
            <a:r>
              <a:t>🏆 Key Results: Fully Functional Cross-Platform Mobile Application Built &amp; Verified on Physical Android Devices</a:t>
            </a:r>
          </a:p>
          <a:p>
            <a:pPr>
              <a:defRPr sz="1000">
                <a:solidFill>
                  <a:srgbClr val="0F172A"/>
                </a:solidFill>
              </a:defRPr>
            </a:pPr>
            <a:r>
              <a:t>• 100% Core Features Completed  • Real-Time WebSocket Messaging  • Expo Push Alerts Live  • Standalone APK Built</a:t>
            </a:r>
          </a:p>
        </p:txBody>
      </p:sp>
      <p:sp>
        <p:nvSpPr>
          <p:cNvPr id="8" name="Rounded Rectangle 7"/>
          <p:cNvSpPr/>
          <p:nvPr/>
        </p:nvSpPr>
        <p:spPr>
          <a:xfrm>
            <a:off x="731520" y="219456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creen_login.png"/>
          <p:cNvPicPr>
            <a:picLocks noChangeAspect="1"/>
          </p:cNvPicPr>
          <p:nvPr/>
        </p:nvPicPr>
        <p:blipFill>
          <a:blip r:embed="rId4"/>
          <a:stretch>
            <a:fillRect/>
          </a:stretch>
        </p:blipFill>
        <p:spPr>
          <a:xfrm>
            <a:off x="1554480" y="2331720"/>
            <a:ext cx="1783080" cy="1002982"/>
          </a:xfrm>
          <a:prstGeom prst="rect">
            <a:avLst/>
          </a:prstGeom>
        </p:spPr>
      </p:pic>
      <p:sp>
        <p:nvSpPr>
          <p:cNvPr id="10" name="TextBox 9"/>
          <p:cNvSpPr txBox="1"/>
          <p:nvPr/>
        </p:nvSpPr>
        <p:spPr>
          <a:xfrm>
            <a:off x="914400" y="5440680"/>
            <a:ext cx="3063240" cy="777240"/>
          </a:xfrm>
          <a:prstGeom prst="rect">
            <a:avLst/>
          </a:prstGeom>
          <a:noFill/>
        </p:spPr>
        <p:txBody>
          <a:bodyPr wrap="square">
            <a:spAutoFit/>
          </a:bodyPr>
          <a:lstStyle/>
          <a:p>
            <a:pPr>
              <a:defRPr sz="1100" b="1">
                <a:solidFill>
                  <a:srgbClr val="002B49"/>
                </a:solidFill>
              </a:defRPr>
            </a:pPr>
            <a:r>
              <a:t>Authentication &amp; Role Selection</a:t>
            </a:r>
          </a:p>
          <a:p>
            <a:pPr>
              <a:defRPr sz="900">
                <a:solidFill>
                  <a:srgbClr val="64748B"/>
                </a:solidFill>
              </a:defRPr>
            </a:pPr>
            <a:r>
              <a:t>Clean branded login screen with seamless role selection between Seeker and Provider.</a:t>
            </a:r>
          </a:p>
        </p:txBody>
      </p:sp>
      <p:sp>
        <p:nvSpPr>
          <p:cNvPr id="11" name="Rounded Rectangle 10"/>
          <p:cNvSpPr/>
          <p:nvPr/>
        </p:nvSpPr>
        <p:spPr>
          <a:xfrm>
            <a:off x="4343400" y="219456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creen_post.png"/>
          <p:cNvPicPr>
            <a:picLocks noChangeAspect="1"/>
          </p:cNvPicPr>
          <p:nvPr/>
        </p:nvPicPr>
        <p:blipFill>
          <a:blip r:embed="rId5"/>
          <a:stretch>
            <a:fillRect/>
          </a:stretch>
        </p:blipFill>
        <p:spPr>
          <a:xfrm>
            <a:off x="5166360" y="2331720"/>
            <a:ext cx="1783080" cy="3969291"/>
          </a:xfrm>
          <a:prstGeom prst="rect">
            <a:avLst/>
          </a:prstGeom>
        </p:spPr>
      </p:pic>
      <p:sp>
        <p:nvSpPr>
          <p:cNvPr id="13" name="TextBox 12"/>
          <p:cNvSpPr txBox="1"/>
          <p:nvPr/>
        </p:nvSpPr>
        <p:spPr>
          <a:xfrm>
            <a:off x="4526280" y="5440680"/>
            <a:ext cx="3063240" cy="777240"/>
          </a:xfrm>
          <a:prstGeom prst="rect">
            <a:avLst/>
          </a:prstGeom>
          <a:noFill/>
        </p:spPr>
        <p:txBody>
          <a:bodyPr wrap="square">
            <a:spAutoFit/>
          </a:bodyPr>
          <a:lstStyle/>
          <a:p>
            <a:pPr>
              <a:defRPr sz="1100" b="1">
                <a:solidFill>
                  <a:srgbClr val="002B49"/>
                </a:solidFill>
              </a:defRPr>
            </a:pPr>
            <a:r>
              <a:t>Service Request Broadcasting</a:t>
            </a:r>
          </a:p>
          <a:p>
            <a:pPr>
              <a:defRPr sz="900">
                <a:solidFill>
                  <a:srgbClr val="64748B"/>
                </a:solidFill>
              </a:defRPr>
            </a:pPr>
            <a:r>
              <a:t>Categorized request form with image attachment and live connects balance check.</a:t>
            </a:r>
          </a:p>
        </p:txBody>
      </p:sp>
      <p:sp>
        <p:nvSpPr>
          <p:cNvPr id="14" name="Rounded Rectangle 13"/>
          <p:cNvSpPr/>
          <p:nvPr/>
        </p:nvSpPr>
        <p:spPr>
          <a:xfrm>
            <a:off x="7955280" y="219456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creen_profile.png"/>
          <p:cNvPicPr>
            <a:picLocks noChangeAspect="1"/>
          </p:cNvPicPr>
          <p:nvPr/>
        </p:nvPicPr>
        <p:blipFill>
          <a:blip r:embed="rId6"/>
          <a:stretch>
            <a:fillRect/>
          </a:stretch>
        </p:blipFill>
        <p:spPr>
          <a:xfrm>
            <a:off x="8778240" y="2331720"/>
            <a:ext cx="1783080" cy="1002982"/>
          </a:xfrm>
          <a:prstGeom prst="rect">
            <a:avLst/>
          </a:prstGeom>
        </p:spPr>
      </p:pic>
      <p:sp>
        <p:nvSpPr>
          <p:cNvPr id="16" name="TextBox 15"/>
          <p:cNvSpPr txBox="1"/>
          <p:nvPr/>
        </p:nvSpPr>
        <p:spPr>
          <a:xfrm>
            <a:off x="8138160" y="5440680"/>
            <a:ext cx="3063240" cy="777240"/>
          </a:xfrm>
          <a:prstGeom prst="rect">
            <a:avLst/>
          </a:prstGeom>
          <a:noFill/>
        </p:spPr>
        <p:txBody>
          <a:bodyPr wrap="square">
            <a:spAutoFit/>
          </a:bodyPr>
          <a:lstStyle/>
          <a:p>
            <a:pPr>
              <a:defRPr sz="1100" b="1">
                <a:solidFill>
                  <a:srgbClr val="002B49"/>
                </a:solidFill>
              </a:defRPr>
            </a:pPr>
            <a:r>
              <a:t>User Profile &amp; Wallet</a:t>
            </a:r>
          </a:p>
          <a:p>
            <a:pPr>
              <a:defRPr sz="900">
                <a:solidFill>
                  <a:srgbClr val="64748B"/>
                </a:solidFill>
              </a:defRPr>
            </a:pPr>
            <a:r>
              <a:t>Connects balance display, quick top-up modal, and account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16 | </a:t>
            </a:r>
            <a:r>
              <a:rPr sz="2200" b="1">
                <a:solidFill>
                  <a:srgbClr val="002B49"/>
                </a:solidFill>
              </a:rPr>
              <a:t>Challenges and Solutions</a:t>
            </a:r>
          </a:p>
          <a:p>
            <a:pPr>
              <a:defRPr sz="1100">
                <a:solidFill>
                  <a:srgbClr val="64748B"/>
                </a:solidFill>
              </a:defRPr>
            </a:pPr>
            <a:r>
              <a:t>Key technical obstacles encountered during development and how they were overcome</a:t>
            </a:r>
          </a:p>
        </p:txBody>
      </p:sp>
      <p:sp>
        <p:nvSpPr>
          <p:cNvPr id="6" name="Rounded Rectangle 5"/>
          <p:cNvSpPr/>
          <p:nvPr/>
        </p:nvSpPr>
        <p:spPr>
          <a:xfrm>
            <a:off x="73152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36192"/>
            <a:ext cx="4800600" cy="1920240"/>
          </a:xfrm>
          <a:prstGeom prst="rect">
            <a:avLst/>
          </a:prstGeom>
          <a:noFill/>
        </p:spPr>
        <p:txBody>
          <a:bodyPr wrap="square">
            <a:spAutoFit/>
          </a:bodyPr>
          <a:lstStyle/>
          <a:p>
            <a:pPr>
              <a:defRPr sz="1400" b="1">
                <a:solidFill>
                  <a:srgbClr val="002B49"/>
                </a:solidFill>
              </a:defRPr>
            </a:pPr>
            <a:r>
              <a:t>🔔  Push Notifications on Real Devices</a:t>
            </a:r>
          </a:p>
          <a:p>
            <a:pPr>
              <a:spcBef>
                <a:spcPts val="400"/>
              </a:spcBef>
              <a:defRPr sz="1050">
                <a:solidFill>
                  <a:srgbClr val="DC2626"/>
                </a:solidFill>
              </a:defRPr>
            </a:pPr>
            <a:r>
              <a:t>• Challenge: Generating push tokens in modern Expo SDK and dispatching alerts to devices reliably.</a:t>
            </a:r>
          </a:p>
          <a:p>
            <a:pPr>
              <a:spcBef>
                <a:spcPts val="400"/>
              </a:spcBef>
              <a:defRPr sz="1050">
                <a:solidFill>
                  <a:srgbClr val="10B981"/>
                </a:solidFill>
              </a:defRPr>
            </a:pPr>
            <a:r>
              <a:t>• Solution: Implemented Expo Push HTTP API utility on backend and configured automatic token registration on user login.</a:t>
            </a:r>
          </a:p>
        </p:txBody>
      </p:sp>
      <p:sp>
        <p:nvSpPr>
          <p:cNvPr id="8" name="Rounded Rectangle 7"/>
          <p:cNvSpPr/>
          <p:nvPr/>
        </p:nvSpPr>
        <p:spPr>
          <a:xfrm>
            <a:off x="6172200" y="137160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36192"/>
            <a:ext cx="4800600" cy="1920240"/>
          </a:xfrm>
          <a:prstGeom prst="rect">
            <a:avLst/>
          </a:prstGeom>
          <a:noFill/>
        </p:spPr>
        <p:txBody>
          <a:bodyPr wrap="square">
            <a:spAutoFit/>
          </a:bodyPr>
          <a:lstStyle/>
          <a:p>
            <a:pPr>
              <a:defRPr sz="1400" b="1">
                <a:solidFill>
                  <a:srgbClr val="002B49"/>
                </a:solidFill>
              </a:defRPr>
            </a:pPr>
            <a:r>
              <a:t>💬  Real-time Chat Room Orchestration</a:t>
            </a:r>
          </a:p>
          <a:p>
            <a:pPr>
              <a:spcBef>
                <a:spcPts val="400"/>
              </a:spcBef>
              <a:defRPr sz="1050">
                <a:solidFill>
                  <a:srgbClr val="DC2626"/>
                </a:solidFill>
              </a:defRPr>
            </a:pPr>
            <a:r>
              <a:t>• Challenge: Synchronizing multi-user WebSocket connections without message drops during tab switches.</a:t>
            </a:r>
          </a:p>
          <a:p>
            <a:pPr>
              <a:spcBef>
                <a:spcPts val="400"/>
              </a:spcBef>
              <a:defRPr sz="1050">
                <a:solidFill>
                  <a:srgbClr val="10B981"/>
                </a:solidFill>
              </a:defRPr>
            </a:pPr>
            <a:r>
              <a:t>• Solution: Designed room-based Socket.io listeners paired with persistent MongoDB fallback storage.</a:t>
            </a:r>
          </a:p>
        </p:txBody>
      </p:sp>
      <p:sp>
        <p:nvSpPr>
          <p:cNvPr id="10" name="Rounded Rectangle 9"/>
          <p:cNvSpPr/>
          <p:nvPr/>
        </p:nvSpPr>
        <p:spPr>
          <a:xfrm>
            <a:off x="73152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05072"/>
            <a:ext cx="4800600" cy="1920240"/>
          </a:xfrm>
          <a:prstGeom prst="rect">
            <a:avLst/>
          </a:prstGeom>
          <a:noFill/>
        </p:spPr>
        <p:txBody>
          <a:bodyPr wrap="square">
            <a:spAutoFit/>
          </a:bodyPr>
          <a:lstStyle/>
          <a:p>
            <a:pPr>
              <a:defRPr sz="1400" b="1">
                <a:solidFill>
                  <a:srgbClr val="002B49"/>
                </a:solidFill>
              </a:defRPr>
            </a:pPr>
            <a:r>
              <a:t>📐  UI Layout Across Android Devices</a:t>
            </a:r>
          </a:p>
          <a:p>
            <a:pPr>
              <a:spcBef>
                <a:spcPts val="400"/>
              </a:spcBef>
              <a:defRPr sz="1050">
                <a:solidFill>
                  <a:srgbClr val="DC2626"/>
                </a:solidFill>
              </a:defRPr>
            </a:pPr>
            <a:r>
              <a:t>• Challenge: Diverse Android screen sizes caused clipping on smaller screens and stretching on tablets.</a:t>
            </a:r>
          </a:p>
          <a:p>
            <a:pPr>
              <a:spcBef>
                <a:spcPts val="400"/>
              </a:spcBef>
              <a:defRPr sz="1050">
                <a:solidFill>
                  <a:srgbClr val="10B981"/>
                </a:solidFill>
              </a:defRPr>
            </a:pPr>
            <a:r>
              <a:t>• Solution: Built a mathematical responsive scaling module (scale, verticalScale, moderateScale) for fluid layouts.</a:t>
            </a:r>
          </a:p>
        </p:txBody>
      </p:sp>
      <p:sp>
        <p:nvSpPr>
          <p:cNvPr id="12" name="Rounded Rectangle 11"/>
          <p:cNvSpPr/>
          <p:nvPr/>
        </p:nvSpPr>
        <p:spPr>
          <a:xfrm>
            <a:off x="6172200" y="3840480"/>
            <a:ext cx="52578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05072"/>
            <a:ext cx="4800600" cy="1920240"/>
          </a:xfrm>
          <a:prstGeom prst="rect">
            <a:avLst/>
          </a:prstGeom>
          <a:noFill/>
        </p:spPr>
        <p:txBody>
          <a:bodyPr wrap="square">
            <a:spAutoFit/>
          </a:bodyPr>
          <a:lstStyle/>
          <a:p>
            <a:pPr>
              <a:defRPr sz="1400" b="1">
                <a:solidFill>
                  <a:srgbClr val="002B49"/>
                </a:solidFill>
              </a:defRPr>
            </a:pPr>
            <a:r>
              <a:t>🛡️  Preventing Spam &amp; Fake Requests</a:t>
            </a:r>
          </a:p>
          <a:p>
            <a:pPr>
              <a:spcBef>
                <a:spcPts val="400"/>
              </a:spcBef>
              <a:defRPr sz="1050">
                <a:solidFill>
                  <a:srgbClr val="DC2626"/>
                </a:solidFill>
              </a:defRPr>
            </a:pPr>
            <a:r>
              <a:t>• Challenge: Preventing malicious users from flooding technicians with fake repair broadcasts.</a:t>
            </a:r>
          </a:p>
          <a:p>
            <a:pPr>
              <a:spcBef>
                <a:spcPts val="400"/>
              </a:spcBef>
              <a:defRPr sz="1050">
                <a:solidFill>
                  <a:srgbClr val="10B981"/>
                </a:solidFill>
              </a:defRPr>
            </a:pPr>
            <a:r>
              <a:t>• Solution: Introduced virtual Connects system where broadcasting and bidding deduct credits, curbing abuse.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17 | </a:t>
            </a:r>
            <a:r>
              <a:rPr sz="2200" b="1">
                <a:solidFill>
                  <a:srgbClr val="002B49"/>
                </a:solidFill>
              </a:rPr>
              <a:t>Future Improvements &amp; Roadmap</a:t>
            </a:r>
          </a:p>
          <a:p>
            <a:pPr>
              <a:defRPr sz="1100">
                <a:solidFill>
                  <a:srgbClr val="64748B"/>
                </a:solidFill>
              </a:defRPr>
            </a:pPr>
            <a:r>
              <a:t>Strategic roadmap for the commercialization and expansion of Bete</a:t>
            </a:r>
          </a:p>
        </p:txBody>
      </p:sp>
      <p:sp>
        <p:nvSpPr>
          <p:cNvPr id="6" name="Rounded Rectangle 5"/>
          <p:cNvSpPr/>
          <p:nvPr/>
        </p:nvSpPr>
        <p:spPr>
          <a:xfrm>
            <a:off x="731520" y="137160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36192"/>
            <a:ext cx="3063240" cy="1920240"/>
          </a:xfrm>
          <a:prstGeom prst="rect">
            <a:avLst/>
          </a:prstGeom>
          <a:noFill/>
        </p:spPr>
        <p:txBody>
          <a:bodyPr wrap="square">
            <a:spAutoFit/>
          </a:bodyPr>
          <a:lstStyle/>
          <a:p>
            <a:pPr>
              <a:defRPr sz="1400" b="1">
                <a:solidFill>
                  <a:srgbClr val="002B49"/>
                </a:solidFill>
              </a:defRPr>
            </a:pPr>
            <a:r>
              <a:t>💳  Online Payment Integration</a:t>
            </a:r>
          </a:p>
          <a:p>
            <a:pPr>
              <a:spcBef>
                <a:spcPts val="800"/>
              </a:spcBef>
              <a:defRPr sz="1100">
                <a:solidFill>
                  <a:srgbClr val="0F172A"/>
                </a:solidFill>
              </a:defRPr>
            </a:pPr>
            <a:r>
              <a:t>Direct integration with Ethiopian payment gateways like Telebirr, CBE Birr, and Chapa for automated escrow settlement.</a:t>
            </a:r>
          </a:p>
        </p:txBody>
      </p:sp>
      <p:sp>
        <p:nvSpPr>
          <p:cNvPr id="8" name="Rounded Rectangle 7"/>
          <p:cNvSpPr/>
          <p:nvPr/>
        </p:nvSpPr>
        <p:spPr>
          <a:xfrm>
            <a:off x="4343400" y="137160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536192"/>
            <a:ext cx="3063240" cy="1920240"/>
          </a:xfrm>
          <a:prstGeom prst="rect">
            <a:avLst/>
          </a:prstGeom>
          <a:noFill/>
        </p:spPr>
        <p:txBody>
          <a:bodyPr wrap="square">
            <a:spAutoFit/>
          </a:bodyPr>
          <a:lstStyle/>
          <a:p>
            <a:pPr>
              <a:defRPr sz="1400" b="1">
                <a:solidFill>
                  <a:srgbClr val="002B49"/>
                </a:solidFill>
              </a:defRPr>
            </a:pPr>
            <a:r>
              <a:t>📍  Live Location &amp; GPS Tracking</a:t>
            </a:r>
          </a:p>
          <a:p>
            <a:pPr>
              <a:spcBef>
                <a:spcPts val="800"/>
              </a:spcBef>
              <a:defRPr sz="1100">
                <a:solidFill>
                  <a:srgbClr val="0F172A"/>
                </a:solidFill>
              </a:defRPr>
            </a:pPr>
            <a:r>
              <a:t>Interactive map view showing technician transit route in real-time as they travel to the customer's home.</a:t>
            </a:r>
          </a:p>
        </p:txBody>
      </p:sp>
      <p:sp>
        <p:nvSpPr>
          <p:cNvPr id="10" name="Rounded Rectangle 9"/>
          <p:cNvSpPr/>
          <p:nvPr/>
        </p:nvSpPr>
        <p:spPr>
          <a:xfrm>
            <a:off x="7955280" y="137160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536192"/>
            <a:ext cx="3063240" cy="1920240"/>
          </a:xfrm>
          <a:prstGeom prst="rect">
            <a:avLst/>
          </a:prstGeom>
          <a:noFill/>
        </p:spPr>
        <p:txBody>
          <a:bodyPr wrap="square">
            <a:spAutoFit/>
          </a:bodyPr>
          <a:lstStyle/>
          <a:p>
            <a:pPr>
              <a:defRPr sz="1400" b="1">
                <a:solidFill>
                  <a:srgbClr val="002B49"/>
                </a:solidFill>
              </a:defRPr>
            </a:pPr>
            <a:r>
              <a:t>🎙️  In-App Audio &amp; Voice Messages</a:t>
            </a:r>
          </a:p>
          <a:p>
            <a:pPr>
              <a:spcBef>
                <a:spcPts val="800"/>
              </a:spcBef>
              <a:defRPr sz="1100">
                <a:solidFill>
                  <a:srgbClr val="0F172A"/>
                </a:solidFill>
              </a:defRPr>
            </a:pPr>
            <a:r>
              <a:t>Voice note messaging for customers to explain repair sounds or plumbing leaks with greater clarity.</a:t>
            </a:r>
          </a:p>
        </p:txBody>
      </p:sp>
      <p:sp>
        <p:nvSpPr>
          <p:cNvPr id="12" name="Rounded Rectangle 11"/>
          <p:cNvSpPr/>
          <p:nvPr/>
        </p:nvSpPr>
        <p:spPr>
          <a:xfrm>
            <a:off x="731520" y="384048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05072"/>
            <a:ext cx="3063240" cy="1920240"/>
          </a:xfrm>
          <a:prstGeom prst="rect">
            <a:avLst/>
          </a:prstGeom>
          <a:noFill/>
        </p:spPr>
        <p:txBody>
          <a:bodyPr wrap="square">
            <a:spAutoFit/>
          </a:bodyPr>
          <a:lstStyle/>
          <a:p>
            <a:pPr>
              <a:defRPr sz="1400" b="1">
                <a:solidFill>
                  <a:srgbClr val="002B49"/>
                </a:solidFill>
              </a:defRPr>
            </a:pPr>
            <a:r>
              <a:t>🔧  Expanded Service Categories</a:t>
            </a:r>
          </a:p>
          <a:p>
            <a:pPr>
              <a:spcBef>
                <a:spcPts val="800"/>
              </a:spcBef>
              <a:defRPr sz="1100">
                <a:solidFill>
                  <a:srgbClr val="0F172A"/>
                </a:solidFill>
              </a:defRPr>
            </a:pPr>
            <a:r>
              <a:t>Broaden into solar installation, home security systems, painting, and HVAC refrigeration maintenance.</a:t>
            </a:r>
          </a:p>
        </p:txBody>
      </p:sp>
      <p:sp>
        <p:nvSpPr>
          <p:cNvPr id="14" name="Rounded Rectangle 13"/>
          <p:cNvSpPr/>
          <p:nvPr/>
        </p:nvSpPr>
        <p:spPr>
          <a:xfrm>
            <a:off x="4343400" y="384048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4005072"/>
            <a:ext cx="3063240" cy="1920240"/>
          </a:xfrm>
          <a:prstGeom prst="rect">
            <a:avLst/>
          </a:prstGeom>
          <a:noFill/>
        </p:spPr>
        <p:txBody>
          <a:bodyPr wrap="square">
            <a:spAutoFit/>
          </a:bodyPr>
          <a:lstStyle/>
          <a:p>
            <a:pPr>
              <a:defRPr sz="1400" b="1">
                <a:solidFill>
                  <a:srgbClr val="002B49"/>
                </a:solidFill>
              </a:defRPr>
            </a:pPr>
            <a:r>
              <a:t>🏙️  Ethiopian City Expansion</a:t>
            </a:r>
          </a:p>
          <a:p>
            <a:pPr>
              <a:spcBef>
                <a:spcPts val="800"/>
              </a:spcBef>
              <a:defRPr sz="1100">
                <a:solidFill>
                  <a:srgbClr val="0F172A"/>
                </a:solidFill>
              </a:defRPr>
            </a:pPr>
            <a:r>
              <a:t>Scale service operations beyond Addis Ababa to secondary urban hubs: Bahir Dar, Hawassa, Adama, and Dire Dawa.</a:t>
            </a:r>
          </a:p>
        </p:txBody>
      </p:sp>
      <p:sp>
        <p:nvSpPr>
          <p:cNvPr id="16" name="Rounded Rectangle 15"/>
          <p:cNvSpPr/>
          <p:nvPr/>
        </p:nvSpPr>
        <p:spPr>
          <a:xfrm>
            <a:off x="7955280" y="3840480"/>
            <a:ext cx="342900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4005072"/>
            <a:ext cx="3063240" cy="1920240"/>
          </a:xfrm>
          <a:prstGeom prst="rect">
            <a:avLst/>
          </a:prstGeom>
          <a:noFill/>
        </p:spPr>
        <p:txBody>
          <a:bodyPr wrap="square">
            <a:spAutoFit/>
          </a:bodyPr>
          <a:lstStyle/>
          <a:p>
            <a:pPr>
              <a:defRPr sz="1400" b="1">
                <a:solidFill>
                  <a:srgbClr val="002B49"/>
                </a:solidFill>
              </a:defRPr>
            </a:pPr>
            <a:r>
              <a:t>🌐  Multilingual Localization</a:t>
            </a:r>
          </a:p>
          <a:p>
            <a:pPr>
              <a:spcBef>
                <a:spcPts val="800"/>
              </a:spcBef>
              <a:defRPr sz="1100">
                <a:solidFill>
                  <a:srgbClr val="0F172A"/>
                </a:solidFill>
              </a:defRPr>
            </a:pPr>
            <a:r>
              <a:t>Add full native support for Amharic and Afaan Oromoo interfaces to maximize local accessibility.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ete_logo_mark.png"/>
          <p:cNvPicPr>
            <a:picLocks noChangeAspect="1"/>
          </p:cNvPicPr>
          <p:nvPr/>
        </p:nvPicPr>
        <p:blipFill>
          <a:blip r:embed="rId3"/>
          <a:stretch>
            <a:fillRect/>
          </a:stretch>
        </p:blipFill>
        <p:spPr>
          <a:xfrm>
            <a:off x="731520" y="182880"/>
            <a:ext cx="685800" cy="685800"/>
          </a:xfrm>
          <a:prstGeom prst="rect">
            <a:avLst/>
          </a:prstGeom>
        </p:spPr>
      </p:pic>
      <p:sp>
        <p:nvSpPr>
          <p:cNvPr id="4" name="TextBox 3"/>
          <p:cNvSpPr txBox="1"/>
          <p:nvPr/>
        </p:nvSpPr>
        <p:spPr>
          <a:xfrm>
            <a:off x="1645920" y="164592"/>
            <a:ext cx="8686800" cy="777240"/>
          </a:xfrm>
          <a:prstGeom prst="rect">
            <a:avLst/>
          </a:prstGeom>
          <a:noFill/>
        </p:spPr>
        <p:txBody>
          <a:bodyPr wrap="square" lIns="0" tIns="0" rIns="0" bIns="0">
            <a:spAutoFit/>
          </a:bodyPr>
          <a:lstStyle/>
          <a:p>
            <a:r>
              <a:rPr sz="1300" b="1">
                <a:solidFill>
                  <a:srgbClr val="FF6B00"/>
                </a:solidFill>
              </a:rPr>
              <a:t>18 | </a:t>
            </a:r>
            <a:r>
              <a:rPr sz="2200" b="1">
                <a:solidFill>
                  <a:srgbClr val="002B49"/>
                </a:solidFill>
              </a:rPr>
              <a:t>Conclusion</a:t>
            </a:r>
          </a:p>
          <a:p>
            <a:pPr>
              <a:defRPr sz="1100">
                <a:solidFill>
                  <a:srgbClr val="64748B"/>
                </a:solidFill>
              </a:defRPr>
            </a:pPr>
            <a:r>
              <a:t>Synthesizing the engineering and socioeconomic impact of Bete</a:t>
            </a:r>
          </a:p>
        </p:txBody>
      </p:sp>
      <p:sp>
        <p:nvSpPr>
          <p:cNvPr id="6" name="Rounded Rectangle 5"/>
          <p:cNvSpPr/>
          <p:nvPr/>
        </p:nvSpPr>
        <p:spPr>
          <a:xfrm>
            <a:off x="731520" y="137160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54480"/>
            <a:ext cx="4800600" cy="1874519"/>
          </a:xfrm>
          <a:prstGeom prst="rect">
            <a:avLst/>
          </a:prstGeom>
          <a:noFill/>
        </p:spPr>
        <p:txBody>
          <a:bodyPr wrap="square">
            <a:spAutoFit/>
          </a:bodyPr>
          <a:lstStyle/>
          <a:p>
            <a:pPr>
              <a:defRPr sz="1600" b="1">
                <a:solidFill>
                  <a:srgbClr val="002B49"/>
                </a:solidFill>
              </a:defRPr>
            </a:pPr>
            <a:r>
              <a:t>🏗️  Modernizing Informal Labor</a:t>
            </a:r>
          </a:p>
          <a:p>
            <a:pPr>
              <a:spcBef>
                <a:spcPts val="800"/>
              </a:spcBef>
              <a:defRPr sz="1150">
                <a:solidFill>
                  <a:srgbClr val="0F172A"/>
                </a:solidFill>
              </a:defRPr>
            </a:pPr>
            <a:r>
              <a:t>Bete transitions Ethiopian household repairs from unvetted street sourcing into a structured, accountable digital marketplace.</a:t>
            </a:r>
          </a:p>
        </p:txBody>
      </p:sp>
      <p:sp>
        <p:nvSpPr>
          <p:cNvPr id="8" name="Rounded Rectangle 7"/>
          <p:cNvSpPr/>
          <p:nvPr/>
        </p:nvSpPr>
        <p:spPr>
          <a:xfrm>
            <a:off x="6172200" y="137160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00600" cy="1874519"/>
          </a:xfrm>
          <a:prstGeom prst="rect">
            <a:avLst/>
          </a:prstGeom>
          <a:noFill/>
        </p:spPr>
        <p:txBody>
          <a:bodyPr wrap="square">
            <a:spAutoFit/>
          </a:bodyPr>
          <a:lstStyle/>
          <a:p>
            <a:pPr>
              <a:defRPr sz="1600" b="1">
                <a:solidFill>
                  <a:srgbClr val="002B49"/>
                </a:solidFill>
              </a:defRPr>
            </a:pPr>
            <a:r>
              <a:t>📈  Empowering Local Artisans</a:t>
            </a:r>
          </a:p>
          <a:p>
            <a:pPr>
              <a:spcBef>
                <a:spcPts val="800"/>
              </a:spcBef>
              <a:defRPr sz="1150">
                <a:solidFill>
                  <a:srgbClr val="0F172A"/>
                </a:solidFill>
              </a:defRPr>
            </a:pPr>
            <a:r>
              <a:t>Equips verified Ethiopian tradespeople with sustainable customer pipelines, professional digital identities, and fair income.</a:t>
            </a:r>
          </a:p>
        </p:txBody>
      </p:sp>
      <p:sp>
        <p:nvSpPr>
          <p:cNvPr id="10" name="Rounded Rectangle 9"/>
          <p:cNvSpPr/>
          <p:nvPr/>
        </p:nvSpPr>
        <p:spPr>
          <a:xfrm>
            <a:off x="731520" y="3840480"/>
            <a:ext cx="5257800" cy="2240280"/>
          </a:xfrm>
          <a:prstGeom prst="roundRect">
            <a:avLst/>
          </a:prstGeom>
          <a:solidFill>
            <a:srgbClr val="FFFFFF"/>
          </a:solidFill>
          <a:ln>
            <a:solidFill>
              <a:srgbClr val="005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800600" cy="1874519"/>
          </a:xfrm>
          <a:prstGeom prst="rect">
            <a:avLst/>
          </a:prstGeom>
          <a:noFill/>
        </p:spPr>
        <p:txBody>
          <a:bodyPr wrap="square">
            <a:spAutoFit/>
          </a:bodyPr>
          <a:lstStyle/>
          <a:p>
            <a:pPr>
              <a:defRPr sz="1600" b="1">
                <a:solidFill>
                  <a:srgbClr val="002B49"/>
                </a:solidFill>
              </a:defRPr>
            </a:pPr>
            <a:r>
              <a:t>🛡️  Restoring Domestic Peace of Mind</a:t>
            </a:r>
          </a:p>
          <a:p>
            <a:pPr>
              <a:spcBef>
                <a:spcPts val="800"/>
              </a:spcBef>
              <a:defRPr sz="1150">
                <a:solidFill>
                  <a:srgbClr val="0F172A"/>
                </a:solidFill>
              </a:defRPr>
            </a:pPr>
            <a:r>
              <a:t>Provides families and tenants with trusted, rapid, and transparent home repairs at the tap of a button.</a:t>
            </a:r>
          </a:p>
        </p:txBody>
      </p:sp>
      <p:sp>
        <p:nvSpPr>
          <p:cNvPr id="12" name="Rounded Rectangle 11"/>
          <p:cNvSpPr/>
          <p:nvPr/>
        </p:nvSpPr>
        <p:spPr>
          <a:xfrm>
            <a:off x="6172200" y="3840480"/>
            <a:ext cx="5257800" cy="224028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23360"/>
            <a:ext cx="4800600" cy="1874519"/>
          </a:xfrm>
          <a:prstGeom prst="rect">
            <a:avLst/>
          </a:prstGeom>
          <a:noFill/>
        </p:spPr>
        <p:txBody>
          <a:bodyPr wrap="square">
            <a:spAutoFit/>
          </a:bodyPr>
          <a:lstStyle/>
          <a:p>
            <a:pPr>
              <a:defRPr sz="1600" b="1">
                <a:solidFill>
                  <a:srgbClr val="002B49"/>
                </a:solidFill>
              </a:defRPr>
            </a:pPr>
            <a:r>
              <a:t>🚀  Scalable Foundation</a:t>
            </a:r>
          </a:p>
          <a:p>
            <a:pPr>
              <a:spcBef>
                <a:spcPts val="800"/>
              </a:spcBef>
              <a:defRPr sz="1150">
                <a:solidFill>
                  <a:srgbClr val="0F172A"/>
                </a:solidFill>
              </a:defRPr>
            </a:pPr>
            <a:r>
              <a:t>Engineered with modular React Native, Node.js, and MongoDB foundations ready for commercial deployment.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286000" y="1005840"/>
            <a:ext cx="7619695" cy="4846320"/>
          </a:xfrm>
          <a:prstGeom prst="roundRect">
            <a:avLst/>
          </a:prstGeom>
          <a:solidFill>
            <a:srgbClr val="FFFFFF"/>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60320" y="1188720"/>
            <a:ext cx="7071055" cy="4480560"/>
          </a:xfrm>
          <a:prstGeom prst="rect">
            <a:avLst/>
          </a:prstGeom>
          <a:noFill/>
        </p:spPr>
        <p:txBody>
          <a:bodyPr wrap="square">
            <a:spAutoFit/>
          </a:bodyPr>
          <a:lstStyle/>
          <a:p>
            <a:br/>
            <a:br/>
            <a:br/>
            <a:r>
              <a:t>Thank You!</a:t>
            </a:r>
          </a:p>
          <a:p>
            <a:pPr algn="ctr">
              <a:spcBef>
                <a:spcPts val="600"/>
              </a:spcBef>
              <a:defRPr sz="2200" b="1">
                <a:solidFill>
                  <a:srgbClr val="FF6B00"/>
                </a:solidFill>
              </a:defRPr>
            </a:pPr>
            <a:r>
              <a:t>Questions &amp; Answers (Q&amp;A)</a:t>
            </a:r>
          </a:p>
          <a:p>
            <a:pPr algn="ctr">
              <a:spcBef>
                <a:spcPts val="1600"/>
              </a:spcBef>
              <a:defRPr sz="1300">
                <a:solidFill>
                  <a:srgbClr val="0F172A"/>
                </a:solidFill>
              </a:defRPr>
            </a:pPr>
            <a:r>
              <a:t>I welcome feedback, inquiries, and technical discussion from the examination committee.</a:t>
            </a:r>
          </a:p>
          <a:p>
            <a:pPr algn="ctr">
              <a:spcBef>
                <a:spcPts val="1600"/>
              </a:spcBef>
              <a:defRPr sz="1200" i="1">
                <a:solidFill>
                  <a:srgbClr val="64748B"/>
                </a:solidFill>
              </a:defRPr>
            </a:pPr>
            <a:r>
              <a:t>Bete – Household Repair &amp; Maintenance Service</a:t>
            </a:r>
            <a:br/>
            <a:r>
              <a:t>Addis Ababa, Ethiopia • 2026</a:t>
            </a:r>
          </a:p>
        </p:txBody>
      </p:sp>
      <p:pic>
        <p:nvPicPr>
          <p:cNvPr id="5" name="Picture 4" descr="bete_logo_stacked.png"/>
          <p:cNvPicPr>
            <a:picLocks noChangeAspect="1"/>
          </p:cNvPicPr>
          <p:nvPr/>
        </p:nvPicPr>
        <p:blipFill>
          <a:blip r:embed="rId3"/>
          <a:stretch>
            <a:fillRect/>
          </a:stretch>
        </p:blipFill>
        <p:spPr>
          <a:xfrm>
            <a:off x="5303520" y="1371600"/>
            <a:ext cx="102870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481</TotalTime>
  <Words>3324</Words>
  <Application>Microsoft Office PowerPoint</Application>
  <PresentationFormat>Widescreen</PresentationFormat>
  <Paragraphs>311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Besufikad Getaye</cp:lastModifiedBy>
  <cp:revision>2</cp:revision>
  <dcterms:created xsi:type="dcterms:W3CDTF">2013-01-27T09:14:16Z</dcterms:created>
  <dcterms:modified xsi:type="dcterms:W3CDTF">2026-09-12T16:02:18Z</dcterms:modified>
  <cp:category/>
</cp:coreProperties>
</file>