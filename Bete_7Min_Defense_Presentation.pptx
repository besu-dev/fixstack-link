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2926080" cy="411480"/>
          </a:xfrm>
          <a:prstGeom prst="roundRect">
            <a:avLst/>
          </a:prstGeom>
          <a:solidFill>
            <a:srgbClr val="162447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C7E6"/>
                </a:solidFill>
              </a:defRPr>
            </a:pPr>
            <a:r>
              <a:t>FINAL PROJECT DEFENSE • 7-MIN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BETE (FixLink)</a:t>
            </a:r>
          </a:p>
          <a:p>
            <a:pPr>
              <a:spcBef>
                <a:spcPts val="1000"/>
              </a:spcBef>
              <a:defRPr sz="2000">
                <a:solidFill>
                  <a:srgbClr val="CBD5E1"/>
                </a:solidFill>
              </a:defRPr>
            </a:pPr>
            <a:r>
              <a:t>On-Demand Home Services &amp; Verified Technician Accreditation Marketplace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97680"/>
            <a:ext cx="10362895" cy="1645920"/>
          </a:xfrm>
          <a:prstGeom prst="roundRect">
            <a:avLst/>
          </a:prstGeom>
          <a:solidFill>
            <a:srgbClr val="111C3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C7E6"/>
                </a:solidFill>
              </a:defRPr>
            </a:pPr>
            <a:r>
              <a:t>Core Presentation Pillars: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1. End-to-End Customer &amp; Technician Workflow (Mobile App - React Native / Expo)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2. Real-Time Accreditation &amp; Verification Portal (Web Portal - React 19 + Vite)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3. Micro-Architecture: Node.js, Express, MongoDB Atlas, Socket.io, Cloudinary &amp; Chapa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2CC"/>
                </a:solidFill>
              </a:defRPr>
            </a:pPr>
            <a:r>
              <a:t>01 / CONTEXT &amp;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Market Problem &amp; The Bete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91C1C"/>
                </a:solidFill>
              </a:defRPr>
            </a:pPr>
            <a:r>
              <a:t>THE PROBLEM IN ADDIS ABABA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Unvetted Technicians: Finding trustworthy plumbers, electricians, or appliance mechanics is based purely on word-of-mouth with zero accreditation.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Security &amp; Safety Risks: Homeowners hesitate to allow unknown handymen into their homes without verified identity documentation.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No Transparent Bidding: Customers face arbitrary price surges with no counter-offers or structured job scope estimation.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Disconnected Service Seekers: Qualified technicians lack a digital presence to showcase certifications and earn verified credibility.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THE BETE (FIXLINK) SOLUTION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✓ Mandatory Credential Verification: Technicians must submit National ID and Trade Certificates for admin review before receiving the Verified Badge.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✓ Geo-Targeted Subcity Matching: Jobs are categorized by subcity (Bole, Yeka, Kirkos, etc.) allowing fast local responses.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✓ Competitive Proposal Marketplace: Technicians submit transparent bids; customers inspect ratings, portfolios, and bids before accepting.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✓ Connects &amp; Escrow Model: Anti-spam system using Connects balance to bid, backed by integrated Chapa payments (Telebirr &amp; CBE).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2CC"/>
                </a:solidFill>
              </a:defRPr>
            </a:pPr>
            <a:r>
              <a:t>02 / ENGINEERING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Full-Stack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Mobile Client</a:t>
            </a:r>
          </a:p>
          <a:p>
            <a:pPr>
              <a:spcBef>
                <a:spcPts val="400"/>
              </a:spcBef>
              <a:defRPr sz="1100" b="1">
                <a:solidFill>
                  <a:srgbClr val="0052CC"/>
                </a:solidFill>
              </a:defRPr>
            </a:pPr>
            <a:r>
              <a:t>React Native + Expo</a:t>
            </a:r>
          </a:p>
          <a:p>
            <a:pPr>
              <a:spcBef>
                <a:spcPts val="1400"/>
              </a:spcBef>
              <a:defRPr sz="1100">
                <a:solidFill>
                  <a:srgbClr val="475569"/>
                </a:solidFill>
              </a:defRPr>
            </a:pPr>
            <a:r>
              <a:t>Cross-platform mobile client for iOS &amp; Android.</a:t>
            </a:r>
            <a:br/>
            <a:r>
              <a:t>• Customer booking flow</a:t>
            </a:r>
            <a:br/>
            <a:r>
              <a:t>• Technician bidding feed</a:t>
            </a:r>
            <a:br/>
            <a:r>
              <a:t>• In-app chat interface</a:t>
            </a:r>
            <a:br/>
            <a:r>
              <a:t>• Document upload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Web Admin Portal</a:t>
            </a:r>
          </a:p>
          <a:p>
            <a:pPr>
              <a:spcBef>
                <a:spcPts val="400"/>
              </a:spcBef>
              <a:defRPr sz="1100" b="1">
                <a:solidFill>
                  <a:srgbClr val="0E7490"/>
                </a:solidFill>
              </a:defRPr>
            </a:pPr>
            <a:r>
              <a:t>React 19 + Vite</a:t>
            </a:r>
          </a:p>
          <a:p>
            <a:pPr>
              <a:spcBef>
                <a:spcPts val="1400"/>
              </a:spcBef>
              <a:defRPr sz="1100">
                <a:solidFill>
                  <a:srgbClr val="475569"/>
                </a:solidFill>
              </a:defRPr>
            </a:pPr>
            <a:r>
              <a:t>High-performance administrative console.</a:t>
            </a:r>
            <a:br/>
            <a:r>
              <a:t>• Technician document inspection</a:t>
            </a:r>
            <a:br/>
            <a:r>
              <a:t>• 1-Click Approve / Reject</a:t>
            </a:r>
            <a:br/>
            <a:r>
              <a:t>• User management directory</a:t>
            </a:r>
            <a:br/>
            <a:r>
              <a:t>• Real-time marketplace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REST &amp; Socket API</a:t>
            </a:r>
          </a:p>
          <a:p>
            <a:pPr>
              <a:spcBef>
                <a:spcPts val="400"/>
              </a:spcBef>
              <a:defRPr sz="1100" b="1">
                <a:solidFill>
                  <a:srgbClr val="059669"/>
                </a:solidFill>
              </a:defRPr>
            </a:pPr>
            <a:r>
              <a:t>Node.js + Express</a:t>
            </a:r>
          </a:p>
          <a:p>
            <a:pPr>
              <a:spcBef>
                <a:spcPts val="1400"/>
              </a:spcBef>
              <a:defRPr sz="1100">
                <a:solidFill>
                  <a:srgbClr val="475569"/>
                </a:solidFill>
              </a:defRPr>
            </a:pPr>
            <a:r>
              <a:t>Asynchronous central server.</a:t>
            </a:r>
            <a:br/>
            <a:r>
              <a:t>• JWT &amp; Bcrypt auth middleware</a:t>
            </a:r>
            <a:br/>
            <a:r>
              <a:t>• Role-Based Access Control</a:t>
            </a:r>
            <a:br/>
            <a:r>
              <a:t>• Real-time Socket.io engine</a:t>
            </a:r>
            <a:br/>
            <a:r>
              <a:t>• Chapa webhook receiver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Database &amp; Cloud</a:t>
            </a:r>
          </a:p>
          <a:p>
            <a:pPr>
              <a:spcBef>
                <a:spcPts val="400"/>
              </a:spcBef>
              <a:defRPr sz="1100" b="1">
                <a:solidFill>
                  <a:srgbClr val="7C3AED"/>
                </a:solidFill>
              </a:defRPr>
            </a:pPr>
            <a:r>
              <a:t>MongoDB Atlas + Cloudinary</a:t>
            </a:r>
          </a:p>
          <a:p>
            <a:pPr>
              <a:spcBef>
                <a:spcPts val="1400"/>
              </a:spcBef>
              <a:defRPr sz="1100">
                <a:solidFill>
                  <a:srgbClr val="475569"/>
                </a:solidFill>
              </a:defRPr>
            </a:pPr>
            <a:r>
              <a:t>Cloud data &amp; media persistence.</a:t>
            </a:r>
            <a:br/>
            <a:r>
              <a:t>• MongoDB Mongoose schemas</a:t>
            </a:r>
            <a:br/>
            <a:r>
              <a:t>• Dynamic document attributes</a:t>
            </a:r>
            <a:br/>
            <a:r>
              <a:t>• Cloudinary CDN image delivery</a:t>
            </a:r>
            <a:br/>
            <a:r>
              <a:t>• Indexed subcity queries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2CC"/>
                </a:solidFill>
              </a:defRPr>
            </a:pPr>
            <a:r>
              <a:t>03 / TECH STACK DEFENSE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Technology Breakdown by Action &amp; Feature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3474720"/>
                <a:gridCol w="1920240"/>
              </a:tblGrid>
              <a:tr h="66620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User Action / Feature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 Used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Architectural Justification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Source Component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Mobile Interface &amp; Bidding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2CC"/>
                          </a:solidFill>
                        </a:defRPr>
                      </a:pPr>
                      <a:r>
                        <a:t>React Native + Expo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Single declarative codebase for Android &amp; iOS with native performance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mobile/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Admin Verification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2CC"/>
                          </a:solidFill>
                        </a:defRPr>
                      </a:pPr>
                      <a:r>
                        <a:t>React 19 + Vite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Rapid sub-second HMR, modular views, and clean unstyled inspection layout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website/src/admin/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Real-Time Chat &amp; Updates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2CC"/>
                          </a:solidFill>
                        </a:defRPr>
                      </a:pPr>
                      <a:r>
                        <a:t>Socket.io (WebSockets)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Bi-directional persistent room channels with zero polling overhead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chatSocket.js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National ID &amp; Certificate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2CC"/>
                          </a:solidFill>
                        </a:defRPr>
                      </a:pPr>
                      <a:r>
                        <a:t>Multer + Cloudinary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Direct CDN upload with automatic image compression and asset resolution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cloudinary.js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Role Access &amp; Passwords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2CC"/>
                          </a:solidFill>
                        </a:defRPr>
                      </a:pPr>
                      <a:r>
                        <a:t>JWT + Bcrypt (10 rounds)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Stateless bearer authorization with salted hashing for passwords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authMiddleware.js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Connects &amp; Fee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2CC"/>
                          </a:solidFill>
                        </a:defRPr>
                      </a:pPr>
                      <a:r>
                        <a:t>Chapa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Native support for Ethiopian payment rails (Telebirr, CBE Birr)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chapaService.js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2CC"/>
                </a:solidFill>
              </a:defRPr>
            </a:pPr>
            <a:r>
              <a:t>04 / DEMONSTRATION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Live Demonstration Roadmap (4 Minutes)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Step 1: Service Request Posting</a:t>
            </a:r>
          </a:p>
          <a:p>
            <a:pPr>
              <a:spcBef>
                <a:spcPts val="400"/>
              </a:spcBef>
              <a:defRPr sz="1100" b="1">
                <a:solidFill>
                  <a:srgbClr val="0052CC"/>
                </a:solidFill>
              </a:defRPr>
            </a:pPr>
            <a:r>
              <a:t>Customer Experience (Mobile)</a:t>
            </a:r>
          </a:p>
          <a:p>
            <a:pPr>
              <a:spcBef>
                <a:spcPts val="1400"/>
              </a:spcBef>
              <a:defRPr sz="1100">
                <a:solidFill>
                  <a:srgbClr val="475569"/>
                </a:solidFill>
              </a:defRPr>
            </a:pPr>
            <a:r>
              <a:t>• Customer selects service category (e.g. Electrical / Appliances)</a:t>
            </a:r>
            <a:br/>
            <a:r>
              <a:t>• Inputs specific description, selects subcity (e.g. Bole), attaches photo</a:t>
            </a:r>
            <a:br/>
            <a:r>
              <a:t>• Job is saved in MongoDB and broadcast to eligible technicians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Step 2: Competitive Proposal &amp; Chat</a:t>
            </a:r>
          </a:p>
          <a:p>
            <a:pPr>
              <a:spcBef>
                <a:spcPts val="400"/>
              </a:spcBef>
              <a:defRPr sz="1100" b="1">
                <a:solidFill>
                  <a:srgbClr val="0E7490"/>
                </a:solidFill>
              </a:defRPr>
            </a:pPr>
            <a:r>
              <a:t>Technician Experience (Mobile)</a:t>
            </a:r>
          </a:p>
          <a:p>
            <a:pPr>
              <a:spcBef>
                <a:spcPts val="1400"/>
              </a:spcBef>
              <a:defRPr sz="1100">
                <a:solidFill>
                  <a:srgbClr val="475569"/>
                </a:solidFill>
              </a:defRPr>
            </a:pPr>
            <a:r>
              <a:t>• Technician opens job feed, checks subcity distance</a:t>
            </a:r>
            <a:br/>
            <a:r>
              <a:t>• Submits competitive price quote (deducts 2 Connects from wallet)</a:t>
            </a:r>
            <a:br/>
            <a:r>
              <a:t>• Customer &amp; technician initiate live Socket.io messaging room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Step 3: Accreditation Verification</a:t>
            </a:r>
          </a:p>
          <a:p>
            <a:pPr>
              <a:spcBef>
                <a:spcPts val="400"/>
              </a:spcBef>
              <a:defRPr sz="1100" b="1">
                <a:solidFill>
                  <a:srgbClr val="059669"/>
                </a:solidFill>
              </a:defRPr>
            </a:pPr>
            <a:r>
              <a:t>Admin Verification (Web Console)</a:t>
            </a:r>
          </a:p>
          <a:p>
            <a:pPr>
              <a:spcBef>
                <a:spcPts val="1400"/>
              </a:spcBef>
              <a:defRPr sz="1100">
                <a:solidFill>
                  <a:srgbClr val="475569"/>
                </a:solidFill>
              </a:defRPr>
            </a:pPr>
            <a:r>
              <a:t>• Admin opens Verification Queue (Approve / Reject tabs)</a:t>
            </a:r>
            <a:br/>
            <a:r>
              <a:t>• Inspects high-res National ID &amp; Trade Certificate / License</a:t>
            </a:r>
            <a:br/>
            <a:r>
              <a:t>• 1-Click Approve: Sets verified status &amp; awards 10 welcome Connects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2CC"/>
                </a:solidFill>
              </a:defRPr>
            </a:pPr>
            <a:r>
              <a:t>05 / ENGINEERING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Security, Real-Time Architecture &amp;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52CC"/>
                </a:solidFill>
              </a:defRPr>
            </a:pPr>
            <a:r>
              <a:t>Authentication &amp; RBAC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Passwords hashed with 10 salt rounds of Bcrypt</a:t>
            </a:r>
            <a:br/>
            <a:r>
              <a:t>• Stateless JWT tokens signed with HMAC SHA-256</a:t>
            </a:r>
            <a:br/>
            <a:r>
              <a:t>• Granular route guards: authMiddleware, adminMiddleware</a:t>
            </a:r>
            <a:br/>
            <a:r>
              <a:t>• Protected document routes preventing unauthorized scraping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698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52CC"/>
                </a:solidFill>
              </a:defRPr>
            </a:pPr>
            <a:r>
              <a:t>Real-Time Synchronization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WebSocket communication powered by Socket.io</a:t>
            </a:r>
            <a:br/>
            <a:r>
              <a:t>• Job-isolated rooms: socket.join(`job_${jobId}`)</a:t>
            </a:r>
            <a:br/>
            <a:r>
              <a:t>• Instant event triggers: new_message, bid_submitted</a:t>
            </a:r>
            <a:br/>
            <a:r>
              <a:t>• Eliminates battery-draining HTTP polling on mobile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698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52CC"/>
                </a:solidFill>
              </a:defRPr>
            </a:pPr>
            <a:r>
              <a:t>Cloud Production Deployment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Frontend: Deployed on Vercel with automated GitHub CI/CD</a:t>
            </a:r>
            <a:br/>
            <a:r>
              <a:t>• SPA Routing: Managed via vercel.json rewrites</a:t>
            </a:r>
            <a:br/>
            <a:r>
              <a:t>• Backend: Hosted on Render Web Service</a:t>
            </a:r>
            <a:br/>
            <a:r>
              <a:t>• Database: Hosted on MongoDB Atlas with automated cloud backups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You! Ready for Q &amp; A</a:t>
            </a:r>
          </a:p>
          <a:p>
            <a:pPr>
              <a:spcBef>
                <a:spcPts val="800"/>
              </a:spcBef>
              <a:defRPr sz="1800">
                <a:solidFill>
                  <a:srgbClr val="00C7E6"/>
                </a:solidFill>
              </a:defRPr>
            </a:pPr>
            <a:r>
              <a:t>Bete (FixLink) — Empowering Ethiopian Households &amp; Vetted Service Technicians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10332720" cy="2286000"/>
          </a:xfrm>
          <a:prstGeom prst="roundRect">
            <a:avLst/>
          </a:prstGeom>
          <a:solidFill>
            <a:srgbClr val="111C3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Quick Technical Reference for Evaluators: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Mobile Frontend: React Native, Expo, React Navigation, Axios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Admin &amp; Web: React 19, Vite, Lucide Icons, Modern Vanilla CSS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Backend &amp; Real-Time: Node.js, Express.js, Socket.io, JWT, Multer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• Cloud Infrastructure: MongoDB Atlas, Cloudinary CDN, Chapa Payment Gateway, Vercel &amp; Render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